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I'm presenting WARI — a real-time, city-wide missing-person CCTV search platform. Before anything else, note the banner on this slide: this system is built for AUTHORIZED missing-person investigations only, and the AI never confirms a match — every result is a lead that requires human verification. That principle shaped every architectural decision you'll see today. The design priorities are on screen: very low latency, high recall, controlled false positives, scalability, privacy, and human-in-the-loop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cover twelve areas: starting from the problem statement, then the core engineering idea that makes city-scale deployment feasible, followed by the full system architecture and each processing stage in detail — camera ingestion, edge processing, face quality, embeddings, vector search, and match ranking. Then we'll walk through the live-search flow, how humans verify results, the privacy and security model, the technology stack, and finally testing, performance numbers, and deployment options.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cities already have thousands of CCTV cameras, but when a person goes missing, operators physically cannot watch every feed. Hours matter in a missing-person case. Our solution: an investigator registers a case with reference photographs. The system extracts a facial template once, then searches both previously indexed CCTV observations AND live streams. Candidates are ranked and shown to a human operator who makes every final decision. Note the six design priorities — and the constraints line at the bottom: role-based access, MFA, an audit trail of every search, biometric retention limits. These aren't add-ons; they're enforced in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why the system is scalable at all. On the left is the naive approach: run face recognition on every frame of every camera. At 25 fps times thousands of cameras, GPU cost explodes and latency becomes minutes. It simply doesn't scale. On the right is our approach: cheap filters first, expensive models last, on the minimum data possible. Follow the funnel at the bottom: 25 fps video gets sampled down to 5 analytical fps; person detection and tracking collapse hundreds of frames into a handful of tracks; only quality-gated faces reach the GPU; vector search filters by metadata; and finally, a human verifies whatever survives. Roughly 99% of pixels are discarded within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complete architecture. Walk it top to bottom. Existing cameras stream RTSP into the Camera Gateway, which samples frames and monitors health. Edge processing does person detection, tracking, face detection, and the quality gate. Only the best face of each tracked person goes to the Embedding Service — a GPU microservice that is internal-only, never exposed publicly. Embeddings flow two ways: into Qdrant as indexed observations for future historical searches, and into the real-time candidate search against active cases. Match ranking tiers candidates, deduplicates alerts, and publishes events to Redis. On the right, the storage roles: PostgreSQL is the source of truth, Redis holds hot state and events, Qdrant holds vectors with ID-only payloads — no personal information anywhere near the index — and object storage keeps evidence frames under retention policy. At the bottom right: the process ends with HUMAN VERIFICATION, always.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gateway maintains persistent RTSP connections with automatic reconnection using exponential backoff — one flaky camera can never take the system down. It detects frozen streams and counts dropped frames, so unreliable cameras are visible immediately on the dashboard. Sampling is configurable per camera, because a crowded railway hub needs different treatment than a quiet corridor. Frames are decoded cheaply — intermediate frames are skipped without full decode — and processed entirely in memory. Nothing is recorded unless it becomes evidence under retention policy. And on the right: SIMULATION_MODE generates synthetic cameras and faces, so we can demonstrate and test the entire pipeline with zero real biometric data. That's exactly what I'd show in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frame's journey through seven stages, ordered cheap to expensive. Sampling skips frames between analysis points. Person detection uses YOLO to find people and produce bounding boxes. Tracking associates detections across frames, so each physical person becomes one track — not fifty separate detections. Face detection runs on the person crop only, then the quality module scores size, sharpness, brightness and detection confidence. The red decision box is important: faces below 0.45 quality are discarded right there — no GPU time is wasted on them. Finally, best-face selection means we embed ONE face per track, and only re-embed if a materially better face appears. The net effect: 25 frames per second per person collapses to roughly one embedding per pass.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panel: the embedding service is internal-only — it has no public port. Its API accepts a face image, aligns it to 112 by 112 pixels, and returns an L2-normalized embedding suitable for cosine similarity. The micro-batch pool coalesces faces across cameras: up to eight faces or forty milliseconds, whichever comes first. The queue is bounded at 256 jobs — if it fills up we DROP stale frames rather than build latency. For live search, freshness beats completeness. Worker failures trip a circuit breaker and the next batch retries automatically. Right panel: Qdrant stores vectors with payloads containing ONLY identifiers and scores — no names, no images. And every query is filtered by camera group, zone, and time range, so we search relevant partitions instead of scanning the whole index. Bottom band: reference embeddings are generated ONCE per case and cached in Redis, shared by all camera workers.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avoid a universal 'match percentage' rule, because similarity depends on the model, camera quality, pose, lighting and demographics. Instead there are configurable tiers, shown in the table: below 0.55 ignore, up to 0.62 low confidence, 0.70 to potential match, and 0.80 and above high priority. Administrators tune these after validation testing on their own population. The rule in the amber box matters: contextual signals like camera reliability and track consistency may ORDER results within a tier, but they can NEVER promote an inadequate biometric match into a higher tier. Bottom: alert deduplication. Fifty consecutive frames of the same person become ONE sighting per thirty-minute window — otherwise the dashboard would be unusable noise.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live-search flow end to end. When the investigator presses START LIVE SEARCH, the case is flagged active and its reference embeddings are served from cache. Pipeline workers poll the active-case set — one centralized search service, not one recognition process per camera. Every frame flows through the cheap stages, the best face is embedded in micro-batches, compared against the case templates by cosine similarity, tiered, deduplicated, and published as an event. WebSocket pushes it to the dashboard in near real time. The green bar is the claim I want to be measured about: capture-to-notification well under a second — and every stage reports average, P95 and P99 latencies, so 'real-time' is proven with numbers, not marketing.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AI stops and the human begins. The evidence screen shows the reference photograph next to the candidate crop and the original CCTV frame, plus camera, location, timestamp and the track timeline. The reviewer has exactly three actions: Confirm Sighting, Reject, or Needs Review — each written immutably with reviewer identity and timestamp. On the right is explainability. Instead of one unexplained '98% accurate' number, every candidate shows WHY it was surfaced: similarity band, quality band, number of consistent observations, duration, camera and time. And the amber banner shows what the interface always says: 'Potential Match — Human Verification Required'. The words 'Person Confirmed' can only come from an authorized human reviewer. There is no code path where a score confirms a person.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isn't a slide here — it's enforced in code, stage by stage. Access control combines JWT authentication, TOTP multi-factor, four roles, and case-scoped authorization: users only see cases they created or were assigned. Every meaningful action lands in an immutable audit log — including every search performed. Vectors carry identifiers and scores only, keeping PII away from the index entirely. Encryption covers transit and rest, with optional application-layer encryption specifically for biometric templates. Retention policies drive a scheduled purge job; disabling a case halts live search instantly; hard-deleting a case purges its templates. And critically: no automated enforcement action may ever be connected to AI matches. This system finds leads; people make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tour of the stack. Frontend: React with TypeScript, Tailwind dark theme, WebSockets for live updates, MapLibre for the map, Recharts for metrics. Backend: FastAPI with Pydantic v2 on AsyncIO, JWT and TOTP MFA, asyncpg for PostgreSQL. Vision: OpenCV plus ONNX Runtime — CUDA/TensorRT ready — YOLO for persons, SCRFD for faces, ArcFace for embeddings. Data layer: partitioned PostgreSQL, Redis for cache/events/dedup, Qdrant for vectors. Everything ships in Docker Compose for pilots and maps directly onto Kubernetes for production. And the last row: both real-camera and simulation modes ship in the same build.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 at three levels. Unit tests cover auth, tracking logic, ranking tiers, quality gates and deduplication. Integration tests run a synthetic frame through detect-track-embed and verify the vector store retrieves it. Failure tests kill GPUs, cameras and databases to verify graceful degradation. For performance, the honest position is: 'real time' is claimed only if measured. Every pipeline stage emits latency histograms reported as average, P95 and P99 through Prometheus and Grafana. The load harness simulates up to thousands of cameras and reports throughput and dropped frames. Bottom band: backpressure strategy — bounded queues, expiring stale frames, and investigation priority deciding which cameras get GPU capacity during shortages.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codebase scales across three deployments. Development: a single workstation, simulation mode, docker compose for infrastructure. Pilot: several GPU servers running pipeline and embedding pools against a central database. Production: Kubernetes with API pods, stream-gateway pods scaled per GPU node, a sharded Qdrant cluster, highly available PostgreSQL, and the monitoring stack. The red box highlights edge computing: regional nodes do local inference and ship only OBSERVATIONS — vectors and evidence — to the center. That cuts bandwidth dramatically because raw video never travels city-wide.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takeaways. Scalable — cost grows with people seen, not frames captured. Fast — sub-second end-to-end path, measured with percentiles. Accurate enough to be useful — multi-template references and multi-signal ranking. Honest — explained candidates, humans decide everything consequential. Private and accountable — minimal data, separated PII, automated retention, full audit trail. And operationally ready — event-driven services, graceful degradation, simulation mode, and load testing built 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I'm happy to take questions — and if there's time, I can run the live demo, which works fully in simulation mode: creating a case, uploading a reference, starting live search, and reviewing a potential sighting on the dashboard — all without any real person's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058400" cy="1280160"/>
          </a:xfrm>
          <a:prstGeom prst="rect">
            <a:avLst/>
          </a:prstGeom>
          <a:noFill/>
        </p:spPr>
        <p:txBody>
          <a:bodyPr wrap="square" anchor="t">
            <a:spAutoFit/>
          </a:bodyPr>
          <a:lstStyle/>
          <a:p>
            <a:pPr algn="l"/>
            <a:r>
              <a:rPr sz="7600" b="1">
                <a:solidFill>
                  <a:srgbClr val="38BDF8"/>
                </a:solidFill>
                <a:latin typeface="Segoe UI"/>
              </a:rPr>
              <a:t>WARI</a:t>
            </a:r>
          </a:p>
        </p:txBody>
      </p:sp>
      <p:sp>
        <p:nvSpPr>
          <p:cNvPr id="5" name="TextBox 4"/>
          <p:cNvSpPr txBox="1"/>
          <p:nvPr/>
        </p:nvSpPr>
        <p:spPr>
          <a:xfrm>
            <a:off x="868680" y="2743200"/>
            <a:ext cx="10515600" cy="640080"/>
          </a:xfrm>
          <a:prstGeom prst="rect">
            <a:avLst/>
          </a:prstGeom>
          <a:noFill/>
        </p:spPr>
        <p:txBody>
          <a:bodyPr wrap="square" anchor="t">
            <a:spAutoFit/>
          </a:bodyPr>
          <a:lstStyle/>
          <a:p>
            <a:pPr algn="l"/>
            <a:r>
              <a:rPr sz="2800" b="1">
                <a:solidFill>
                  <a:srgbClr val="E2E8F0"/>
                </a:solidFill>
                <a:latin typeface="Segoe UI"/>
              </a:rPr>
              <a:t>Real-Time City-Wide Missing-Person CCTV Search Platform</a:t>
            </a:r>
          </a:p>
        </p:txBody>
      </p:sp>
      <p:sp>
        <p:nvSpPr>
          <p:cNvPr id="6" name="TextBox 5"/>
          <p:cNvSpPr txBox="1"/>
          <p:nvPr/>
        </p:nvSpPr>
        <p:spPr>
          <a:xfrm>
            <a:off x="868680" y="3520440"/>
            <a:ext cx="10515600" cy="457200"/>
          </a:xfrm>
          <a:prstGeom prst="rect">
            <a:avLst/>
          </a:prstGeom>
          <a:noFill/>
        </p:spPr>
        <p:txBody>
          <a:bodyPr wrap="square" anchor="t">
            <a:spAutoFit/>
          </a:bodyPr>
          <a:lstStyle/>
          <a:p>
            <a:pPr algn="l"/>
            <a:r>
              <a:rPr sz="1500" b="0">
                <a:solidFill>
                  <a:srgbClr val="94A3B8"/>
                </a:solidFill>
                <a:latin typeface="Segoe UI"/>
              </a:rPr>
              <a:t>Low latency  ·  High recall  ·  Controlled false positives  ·  Scalability  ·  Security  ·  Privacy</a:t>
            </a:r>
          </a:p>
        </p:txBody>
      </p:sp>
      <p:sp>
        <p:nvSpPr>
          <p:cNvPr id="7" name="Rounded Rectangle 6"/>
          <p:cNvSpPr/>
          <p:nvPr/>
        </p:nvSpPr>
        <p:spPr>
          <a:xfrm>
            <a:off x="868680" y="4297680"/>
            <a:ext cx="6949440" cy="50292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AI produces leads — every sighting requires HUMAN VERIFICATION</a:t>
            </a:r>
          </a:p>
        </p:txBody>
      </p:sp>
      <p:sp>
        <p:nvSpPr>
          <p:cNvPr id="8" name="TextBox 7"/>
          <p:cNvSpPr txBox="1"/>
          <p:nvPr/>
        </p:nvSpPr>
        <p:spPr>
          <a:xfrm>
            <a:off x="868680" y="5394960"/>
            <a:ext cx="10058400" cy="822960"/>
          </a:xfrm>
          <a:prstGeom prst="rect">
            <a:avLst/>
          </a:prstGeom>
          <a:noFill/>
        </p:spPr>
        <p:txBody>
          <a:bodyPr wrap="square" anchor="t">
            <a:spAutoFit/>
          </a:bodyPr>
          <a:lstStyle/>
          <a:p>
            <a:pPr algn="l"/>
            <a:r>
              <a:rPr sz="1300" b="0">
                <a:solidFill>
                  <a:srgbClr val="94A3B8"/>
                </a:solidFill>
                <a:latin typeface="Segoe UI"/>
              </a:rPr>
              <a:t>Project presentation  ·  Authorized missing-person search operations</a:t>
            </a:r>
          </a:p>
          <a:p>
            <a:pPr algn="l"/>
            <a:r>
              <a:rPr sz="1300" b="0">
                <a:solidFill>
                  <a:srgbClr val="94A3B8"/>
                </a:solidFill>
                <a:latin typeface="Segoe UI"/>
              </a:rPr>
              <a:t>Architecture · Data Flow · Security · Performance Engineering</a:t>
            </a:r>
          </a:p>
        </p:txBody>
      </p:sp>
      <p:sp>
        <p:nvSpPr>
          <p:cNvPr id="9" name="TextBox 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Agenda</a:t>
            </a:r>
          </a:p>
        </p:txBody>
      </p:sp>
      <p:sp>
        <p:nvSpPr>
          <p:cNvPr id="5" name="Rounded Rectangle 4"/>
          <p:cNvSpPr/>
          <p:nvPr/>
        </p:nvSpPr>
        <p:spPr>
          <a:xfrm>
            <a:off x="822960" y="1554480"/>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1</a:t>
            </a:r>
          </a:p>
        </p:txBody>
      </p:sp>
      <p:sp>
        <p:nvSpPr>
          <p:cNvPr id="6" name="TextBox 5"/>
          <p:cNvSpPr txBox="1"/>
          <p:nvPr/>
        </p:nvSpPr>
        <p:spPr>
          <a:xfrm>
            <a:off x="1508760" y="1609344"/>
            <a:ext cx="4846320" cy="457200"/>
          </a:xfrm>
          <a:prstGeom prst="rect">
            <a:avLst/>
          </a:prstGeom>
          <a:noFill/>
        </p:spPr>
        <p:txBody>
          <a:bodyPr wrap="square" anchor="t">
            <a:spAutoFit/>
          </a:bodyPr>
          <a:lstStyle/>
          <a:p>
            <a:pPr algn="l"/>
            <a:r>
              <a:rPr sz="1700" b="0">
                <a:solidFill>
                  <a:srgbClr val="E2E8F0"/>
                </a:solidFill>
                <a:latin typeface="Segoe UI"/>
              </a:rPr>
              <a:t>Problem &amp; objectives</a:t>
            </a:r>
          </a:p>
        </p:txBody>
      </p:sp>
      <p:sp>
        <p:nvSpPr>
          <p:cNvPr id="7" name="Rounded Rectangle 6"/>
          <p:cNvSpPr/>
          <p:nvPr/>
        </p:nvSpPr>
        <p:spPr>
          <a:xfrm>
            <a:off x="822960" y="2304288"/>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2</a:t>
            </a:r>
          </a:p>
        </p:txBody>
      </p:sp>
      <p:sp>
        <p:nvSpPr>
          <p:cNvPr id="8" name="TextBox 7"/>
          <p:cNvSpPr txBox="1"/>
          <p:nvPr/>
        </p:nvSpPr>
        <p:spPr>
          <a:xfrm>
            <a:off x="1508760" y="2359152"/>
            <a:ext cx="4846320" cy="457200"/>
          </a:xfrm>
          <a:prstGeom prst="rect">
            <a:avLst/>
          </a:prstGeom>
          <a:noFill/>
        </p:spPr>
        <p:txBody>
          <a:bodyPr wrap="square" anchor="t">
            <a:spAutoFit/>
          </a:bodyPr>
          <a:lstStyle/>
          <a:p>
            <a:pPr algn="l"/>
            <a:r>
              <a:rPr sz="1700" b="0">
                <a:solidFill>
                  <a:srgbClr val="E2E8F0"/>
                </a:solidFill>
                <a:latin typeface="Segoe UI"/>
              </a:rPr>
              <a:t>Core engineering principle</a:t>
            </a:r>
          </a:p>
        </p:txBody>
      </p:sp>
      <p:sp>
        <p:nvSpPr>
          <p:cNvPr id="9" name="Rounded Rectangle 8"/>
          <p:cNvSpPr/>
          <p:nvPr/>
        </p:nvSpPr>
        <p:spPr>
          <a:xfrm>
            <a:off x="822960" y="3054096"/>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3</a:t>
            </a:r>
          </a:p>
        </p:txBody>
      </p:sp>
      <p:sp>
        <p:nvSpPr>
          <p:cNvPr id="10" name="TextBox 9"/>
          <p:cNvSpPr txBox="1"/>
          <p:nvPr/>
        </p:nvSpPr>
        <p:spPr>
          <a:xfrm>
            <a:off x="1508760" y="3108960"/>
            <a:ext cx="4846320" cy="457200"/>
          </a:xfrm>
          <a:prstGeom prst="rect">
            <a:avLst/>
          </a:prstGeom>
          <a:noFill/>
        </p:spPr>
        <p:txBody>
          <a:bodyPr wrap="square" anchor="t">
            <a:spAutoFit/>
          </a:bodyPr>
          <a:lstStyle/>
          <a:p>
            <a:pPr algn="l"/>
            <a:r>
              <a:rPr sz="1700" b="0">
                <a:solidFill>
                  <a:srgbClr val="E2E8F0"/>
                </a:solidFill>
                <a:latin typeface="Segoe UI"/>
              </a:rPr>
              <a:t>System architecture (end-to-end)</a:t>
            </a:r>
          </a:p>
        </p:txBody>
      </p:sp>
      <p:sp>
        <p:nvSpPr>
          <p:cNvPr id="11" name="Rounded Rectangle 10"/>
          <p:cNvSpPr/>
          <p:nvPr/>
        </p:nvSpPr>
        <p:spPr>
          <a:xfrm>
            <a:off x="822960" y="3803904"/>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4</a:t>
            </a:r>
          </a:p>
        </p:txBody>
      </p:sp>
      <p:sp>
        <p:nvSpPr>
          <p:cNvPr id="12" name="TextBox 11"/>
          <p:cNvSpPr txBox="1"/>
          <p:nvPr/>
        </p:nvSpPr>
        <p:spPr>
          <a:xfrm>
            <a:off x="1508760" y="3858768"/>
            <a:ext cx="4846320" cy="457200"/>
          </a:xfrm>
          <a:prstGeom prst="rect">
            <a:avLst/>
          </a:prstGeom>
          <a:noFill/>
        </p:spPr>
        <p:txBody>
          <a:bodyPr wrap="square" anchor="t">
            <a:spAutoFit/>
          </a:bodyPr>
          <a:lstStyle/>
          <a:p>
            <a:pPr algn="l"/>
            <a:r>
              <a:rPr sz="1700" b="0">
                <a:solidFill>
                  <a:srgbClr val="E2E8F0"/>
                </a:solidFill>
                <a:latin typeface="Segoe UI"/>
              </a:rPr>
              <a:t>Camera gateway &amp; edge pipeline</a:t>
            </a:r>
          </a:p>
        </p:txBody>
      </p:sp>
      <p:sp>
        <p:nvSpPr>
          <p:cNvPr id="13" name="Rounded Rectangle 12"/>
          <p:cNvSpPr/>
          <p:nvPr/>
        </p:nvSpPr>
        <p:spPr>
          <a:xfrm>
            <a:off x="822960" y="4553712"/>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5</a:t>
            </a:r>
          </a:p>
        </p:txBody>
      </p:sp>
      <p:sp>
        <p:nvSpPr>
          <p:cNvPr id="14" name="TextBox 13"/>
          <p:cNvSpPr txBox="1"/>
          <p:nvPr/>
        </p:nvSpPr>
        <p:spPr>
          <a:xfrm>
            <a:off x="1508760" y="4608576"/>
            <a:ext cx="4846320" cy="457200"/>
          </a:xfrm>
          <a:prstGeom prst="rect">
            <a:avLst/>
          </a:prstGeom>
          <a:noFill/>
        </p:spPr>
        <p:txBody>
          <a:bodyPr wrap="square" anchor="t">
            <a:spAutoFit/>
          </a:bodyPr>
          <a:lstStyle/>
          <a:p>
            <a:pPr algn="l"/>
            <a:r>
              <a:rPr sz="1700" b="0">
                <a:solidFill>
                  <a:srgbClr val="E2E8F0"/>
                </a:solidFill>
                <a:latin typeface="Segoe UI"/>
              </a:rPr>
              <a:t>Face quality gate &amp; best-face selection</a:t>
            </a:r>
          </a:p>
        </p:txBody>
      </p:sp>
      <p:sp>
        <p:nvSpPr>
          <p:cNvPr id="15" name="Rounded Rectangle 14"/>
          <p:cNvSpPr/>
          <p:nvPr/>
        </p:nvSpPr>
        <p:spPr>
          <a:xfrm>
            <a:off x="822960" y="5303520"/>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6</a:t>
            </a:r>
          </a:p>
        </p:txBody>
      </p:sp>
      <p:sp>
        <p:nvSpPr>
          <p:cNvPr id="16" name="TextBox 15"/>
          <p:cNvSpPr txBox="1"/>
          <p:nvPr/>
        </p:nvSpPr>
        <p:spPr>
          <a:xfrm>
            <a:off x="1508760" y="5358384"/>
            <a:ext cx="4846320" cy="457200"/>
          </a:xfrm>
          <a:prstGeom prst="rect">
            <a:avLst/>
          </a:prstGeom>
          <a:noFill/>
        </p:spPr>
        <p:txBody>
          <a:bodyPr wrap="square" anchor="t">
            <a:spAutoFit/>
          </a:bodyPr>
          <a:lstStyle/>
          <a:p>
            <a:pPr algn="l"/>
            <a:r>
              <a:rPr sz="1700" b="0">
                <a:solidFill>
                  <a:srgbClr val="E2E8F0"/>
                </a:solidFill>
                <a:latin typeface="Segoe UI"/>
              </a:rPr>
              <a:t>Embedding service &amp; vector search</a:t>
            </a:r>
          </a:p>
        </p:txBody>
      </p:sp>
      <p:sp>
        <p:nvSpPr>
          <p:cNvPr id="17" name="Rounded Rectangle 16"/>
          <p:cNvSpPr/>
          <p:nvPr/>
        </p:nvSpPr>
        <p:spPr>
          <a:xfrm>
            <a:off x="6583680" y="1554480"/>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7</a:t>
            </a:r>
          </a:p>
        </p:txBody>
      </p:sp>
      <p:sp>
        <p:nvSpPr>
          <p:cNvPr id="18" name="TextBox 17"/>
          <p:cNvSpPr txBox="1"/>
          <p:nvPr/>
        </p:nvSpPr>
        <p:spPr>
          <a:xfrm>
            <a:off x="7269480" y="1609344"/>
            <a:ext cx="4846320" cy="457200"/>
          </a:xfrm>
          <a:prstGeom prst="rect">
            <a:avLst/>
          </a:prstGeom>
          <a:noFill/>
        </p:spPr>
        <p:txBody>
          <a:bodyPr wrap="square" anchor="t">
            <a:spAutoFit/>
          </a:bodyPr>
          <a:lstStyle/>
          <a:p>
            <a:pPr algn="l"/>
            <a:r>
              <a:rPr sz="1700" b="0">
                <a:solidFill>
                  <a:srgbClr val="E2E8F0"/>
                </a:solidFill>
                <a:latin typeface="Segoe UI"/>
              </a:rPr>
              <a:t>Match ranking &amp; thresholds</a:t>
            </a:r>
          </a:p>
        </p:txBody>
      </p:sp>
      <p:sp>
        <p:nvSpPr>
          <p:cNvPr id="19" name="Rounded Rectangle 18"/>
          <p:cNvSpPr/>
          <p:nvPr/>
        </p:nvSpPr>
        <p:spPr>
          <a:xfrm>
            <a:off x="6583680" y="2304288"/>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8</a:t>
            </a:r>
          </a:p>
        </p:txBody>
      </p:sp>
      <p:sp>
        <p:nvSpPr>
          <p:cNvPr id="20" name="TextBox 19"/>
          <p:cNvSpPr txBox="1"/>
          <p:nvPr/>
        </p:nvSpPr>
        <p:spPr>
          <a:xfrm>
            <a:off x="7269480" y="2359152"/>
            <a:ext cx="4846320" cy="457200"/>
          </a:xfrm>
          <a:prstGeom prst="rect">
            <a:avLst/>
          </a:prstGeom>
          <a:noFill/>
        </p:spPr>
        <p:txBody>
          <a:bodyPr wrap="square" anchor="t">
            <a:spAutoFit/>
          </a:bodyPr>
          <a:lstStyle/>
          <a:p>
            <a:pPr algn="l"/>
            <a:r>
              <a:rPr sz="1700" b="0">
                <a:solidFill>
                  <a:srgbClr val="E2E8F0"/>
                </a:solidFill>
                <a:latin typeface="Segoe UI"/>
              </a:rPr>
              <a:t>Live search flow (real time)</a:t>
            </a:r>
          </a:p>
        </p:txBody>
      </p:sp>
      <p:sp>
        <p:nvSpPr>
          <p:cNvPr id="21" name="Rounded Rectangle 20"/>
          <p:cNvSpPr/>
          <p:nvPr/>
        </p:nvSpPr>
        <p:spPr>
          <a:xfrm>
            <a:off x="6583680" y="3054096"/>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9</a:t>
            </a:r>
          </a:p>
        </p:txBody>
      </p:sp>
      <p:sp>
        <p:nvSpPr>
          <p:cNvPr id="22" name="TextBox 21"/>
          <p:cNvSpPr txBox="1"/>
          <p:nvPr/>
        </p:nvSpPr>
        <p:spPr>
          <a:xfrm>
            <a:off x="7269480" y="3108960"/>
            <a:ext cx="4846320" cy="457200"/>
          </a:xfrm>
          <a:prstGeom prst="rect">
            <a:avLst/>
          </a:prstGeom>
          <a:noFill/>
        </p:spPr>
        <p:txBody>
          <a:bodyPr wrap="square" anchor="t">
            <a:spAutoFit/>
          </a:bodyPr>
          <a:lstStyle/>
          <a:p>
            <a:pPr algn="l"/>
            <a:r>
              <a:rPr sz="1700" b="0">
                <a:solidFill>
                  <a:srgbClr val="E2E8F0"/>
                </a:solidFill>
                <a:latin typeface="Segoe UI"/>
              </a:rPr>
              <a:t>Human verification &amp; explainability</a:t>
            </a:r>
          </a:p>
        </p:txBody>
      </p:sp>
      <p:sp>
        <p:nvSpPr>
          <p:cNvPr id="23" name="Rounded Rectangle 22"/>
          <p:cNvSpPr/>
          <p:nvPr/>
        </p:nvSpPr>
        <p:spPr>
          <a:xfrm>
            <a:off x="6583680" y="3803904"/>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10</a:t>
            </a:r>
          </a:p>
        </p:txBody>
      </p:sp>
      <p:sp>
        <p:nvSpPr>
          <p:cNvPr id="24" name="TextBox 23"/>
          <p:cNvSpPr txBox="1"/>
          <p:nvPr/>
        </p:nvSpPr>
        <p:spPr>
          <a:xfrm>
            <a:off x="7269480" y="3858768"/>
            <a:ext cx="4846320" cy="457200"/>
          </a:xfrm>
          <a:prstGeom prst="rect">
            <a:avLst/>
          </a:prstGeom>
          <a:noFill/>
        </p:spPr>
        <p:txBody>
          <a:bodyPr wrap="square" anchor="t">
            <a:spAutoFit/>
          </a:bodyPr>
          <a:lstStyle/>
          <a:p>
            <a:pPr algn="l"/>
            <a:r>
              <a:rPr sz="1700" b="0">
                <a:solidFill>
                  <a:srgbClr val="E2E8F0"/>
                </a:solidFill>
                <a:latin typeface="Segoe UI"/>
              </a:rPr>
              <a:t>Privacy &amp; security controls</a:t>
            </a:r>
          </a:p>
        </p:txBody>
      </p:sp>
      <p:sp>
        <p:nvSpPr>
          <p:cNvPr id="25" name="Rounded Rectangle 24"/>
          <p:cNvSpPr/>
          <p:nvPr/>
        </p:nvSpPr>
        <p:spPr>
          <a:xfrm>
            <a:off x="6583680" y="4553712"/>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11</a:t>
            </a:r>
          </a:p>
        </p:txBody>
      </p:sp>
      <p:sp>
        <p:nvSpPr>
          <p:cNvPr id="26" name="TextBox 25"/>
          <p:cNvSpPr txBox="1"/>
          <p:nvPr/>
        </p:nvSpPr>
        <p:spPr>
          <a:xfrm>
            <a:off x="7269480" y="4608576"/>
            <a:ext cx="4846320" cy="457200"/>
          </a:xfrm>
          <a:prstGeom prst="rect">
            <a:avLst/>
          </a:prstGeom>
          <a:noFill/>
        </p:spPr>
        <p:txBody>
          <a:bodyPr wrap="square" anchor="t">
            <a:spAutoFit/>
          </a:bodyPr>
          <a:lstStyle/>
          <a:p>
            <a:pPr algn="l"/>
            <a:r>
              <a:rPr sz="1700" b="0">
                <a:solidFill>
                  <a:srgbClr val="E2E8F0"/>
                </a:solidFill>
                <a:latin typeface="Segoe UI"/>
              </a:rPr>
              <a:t>Technology stack</a:t>
            </a:r>
          </a:p>
        </p:txBody>
      </p:sp>
      <p:sp>
        <p:nvSpPr>
          <p:cNvPr id="27" name="Rounded Rectangle 26"/>
          <p:cNvSpPr/>
          <p:nvPr/>
        </p:nvSpPr>
        <p:spPr>
          <a:xfrm>
            <a:off x="6583680" y="5303520"/>
            <a:ext cx="475488" cy="475488"/>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220"/>
                </a:solidFill>
                <a:latin typeface="Segoe UI"/>
              </a:rPr>
              <a:t>12</a:t>
            </a:r>
          </a:p>
        </p:txBody>
      </p:sp>
      <p:sp>
        <p:nvSpPr>
          <p:cNvPr id="28" name="TextBox 27"/>
          <p:cNvSpPr txBox="1"/>
          <p:nvPr/>
        </p:nvSpPr>
        <p:spPr>
          <a:xfrm>
            <a:off x="7269480" y="5358384"/>
            <a:ext cx="4846320" cy="457200"/>
          </a:xfrm>
          <a:prstGeom prst="rect">
            <a:avLst/>
          </a:prstGeom>
          <a:noFill/>
        </p:spPr>
        <p:txBody>
          <a:bodyPr wrap="square" anchor="t">
            <a:spAutoFit/>
          </a:bodyPr>
          <a:lstStyle/>
          <a:p>
            <a:pPr algn="l"/>
            <a:r>
              <a:rPr sz="1700" b="0">
                <a:solidFill>
                  <a:srgbClr val="E2E8F0"/>
                </a:solidFill>
                <a:latin typeface="Segoe UI"/>
              </a:rPr>
              <a:t>Testing, performance, deployment</a:t>
            </a:r>
          </a:p>
        </p:txBody>
      </p:sp>
      <p:sp>
        <p:nvSpPr>
          <p:cNvPr id="29" name="TextBox 2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Problem Statement &amp; Objectives</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An authorized operation to find missing persons using the city's existing CCTV infrastructure</a:t>
            </a:r>
          </a:p>
        </p:txBody>
      </p:sp>
      <p:sp>
        <p:nvSpPr>
          <p:cNvPr id="6" name="Rectangle 5"/>
          <p:cNvSpPr/>
          <p:nvPr/>
        </p:nvSpPr>
        <p:spPr>
          <a:xfrm>
            <a:off x="640080" y="1508760"/>
            <a:ext cx="5394960" cy="2148840"/>
          </a:xfrm>
          <a:prstGeom prst="rect">
            <a:avLst/>
          </a:prstGeom>
          <a:solidFill>
            <a:srgbClr val="111A2C"/>
          </a:solidFill>
          <a:ln w="15875">
            <a:solidFill>
              <a:srgbClr val="2A3B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59E0B"/>
                </a:solidFill>
                <a:latin typeface="Segoe UI"/>
              </a:rPr>
              <a:t>THE PROBLEM</a:t>
            </a:r>
          </a:p>
          <a:p>
            <a:pPr algn="ctr"/>
            <a:r>
              <a:rPr sz="1400" b="0">
                <a:solidFill>
                  <a:srgbClr val="E2E8F0"/>
                </a:solidFill>
                <a:latin typeface="Segoe UI"/>
              </a:rPr>
              <a:t>City already has thousands of cameras (roads, stations,</a:t>
            </a:r>
          </a:p>
          <a:p>
            <a:pPr algn="ctr"/>
            <a:r>
              <a:rPr sz="1400" b="0">
                <a:solidFill>
                  <a:srgbClr val="E2E8F0"/>
                </a:solidFill>
                <a:latin typeface="Segoe UI"/>
              </a:rPr>
              <a:t>malls, campuses…). Finding one person manually is</a:t>
            </a:r>
          </a:p>
          <a:p>
            <a:pPr algn="ctr"/>
            <a:r>
              <a:rPr sz="1400" b="0">
                <a:solidFill>
                  <a:srgbClr val="E2E8F0"/>
                </a:solidFill>
                <a:latin typeface="Segoe UI"/>
              </a:rPr>
              <a:t>impossible: operators cannot watch every feed.</a:t>
            </a:r>
          </a:p>
        </p:txBody>
      </p:sp>
      <p:sp>
        <p:nvSpPr>
          <p:cNvPr id="7" name="Rectangle 6"/>
          <p:cNvSpPr/>
          <p:nvPr/>
        </p:nvSpPr>
        <p:spPr>
          <a:xfrm>
            <a:off x="6217920" y="1508760"/>
            <a:ext cx="5394960" cy="2148840"/>
          </a:xfrm>
          <a:prstGeom prst="rect">
            <a:avLst/>
          </a:prstGeom>
          <a:solidFill>
            <a:srgbClr val="111A2C"/>
          </a:solidFill>
          <a:ln w="15875">
            <a:solidFill>
              <a:srgbClr val="2A3B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2C55E"/>
                </a:solidFill>
                <a:latin typeface="Segoe UI"/>
              </a:rPr>
              <a:t>THE SOLUTION</a:t>
            </a:r>
          </a:p>
          <a:p>
            <a:pPr algn="ctr"/>
            <a:r>
              <a:rPr sz="1400" b="0">
                <a:solidFill>
                  <a:srgbClr val="E2E8F0"/>
                </a:solidFill>
                <a:latin typeface="Segoe UI"/>
              </a:rPr>
              <a:t>Register case → extract face template from photos → search</a:t>
            </a:r>
          </a:p>
          <a:p>
            <a:pPr algn="ctr"/>
            <a:r>
              <a:rPr sz="1400" b="0">
                <a:solidFill>
                  <a:srgbClr val="E2E8F0"/>
                </a:solidFill>
                <a:latin typeface="Segoe UI"/>
              </a:rPr>
              <a:t>indexed + live CCTV observations → rank candidates →</a:t>
            </a:r>
          </a:p>
          <a:p>
            <a:pPr algn="ctr"/>
            <a:r>
              <a:rPr sz="1400" b="0">
                <a:solidFill>
                  <a:srgbClr val="E2E8F0"/>
                </a:solidFill>
                <a:latin typeface="Segoe UI"/>
              </a:rPr>
              <a:t>human operator verifies every potential match.</a:t>
            </a:r>
          </a:p>
        </p:txBody>
      </p:sp>
      <p:sp>
        <p:nvSpPr>
          <p:cNvPr id="8" name="TextBox 7"/>
          <p:cNvSpPr txBox="1"/>
          <p:nvPr/>
        </p:nvSpPr>
        <p:spPr>
          <a:xfrm>
            <a:off x="640080" y="3977639"/>
            <a:ext cx="3657600" cy="365760"/>
          </a:xfrm>
          <a:prstGeom prst="rect">
            <a:avLst/>
          </a:prstGeom>
          <a:noFill/>
        </p:spPr>
        <p:txBody>
          <a:bodyPr wrap="square" anchor="t">
            <a:spAutoFit/>
          </a:bodyPr>
          <a:lstStyle/>
          <a:p>
            <a:pPr algn="l"/>
            <a:r>
              <a:rPr sz="1600" b="1">
                <a:solidFill>
                  <a:srgbClr val="38BDF8"/>
                </a:solidFill>
                <a:latin typeface="Segoe UI"/>
              </a:rPr>
              <a:t>Design priorities</a:t>
            </a:r>
          </a:p>
        </p:txBody>
      </p:sp>
      <p:sp>
        <p:nvSpPr>
          <p:cNvPr id="9" name="Rounded Rectangle 8"/>
          <p:cNvSpPr/>
          <p:nvPr/>
        </p:nvSpPr>
        <p:spPr>
          <a:xfrm>
            <a:off x="640080" y="4434840"/>
            <a:ext cx="3922776" cy="310896"/>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Very low latency</a:t>
            </a:r>
          </a:p>
        </p:txBody>
      </p:sp>
      <p:sp>
        <p:nvSpPr>
          <p:cNvPr id="10" name="Rounded Rectangle 9"/>
          <p:cNvSpPr/>
          <p:nvPr/>
        </p:nvSpPr>
        <p:spPr>
          <a:xfrm>
            <a:off x="4764024" y="4434840"/>
            <a:ext cx="2825496" cy="310896"/>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High recall</a:t>
            </a:r>
          </a:p>
        </p:txBody>
      </p:sp>
      <p:sp>
        <p:nvSpPr>
          <p:cNvPr id="11" name="Rounded Rectangle 10"/>
          <p:cNvSpPr/>
          <p:nvPr/>
        </p:nvSpPr>
        <p:spPr>
          <a:xfrm>
            <a:off x="7790688" y="4434840"/>
            <a:ext cx="4361688" cy="310896"/>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Controlled FP rate</a:t>
            </a:r>
          </a:p>
        </p:txBody>
      </p:sp>
      <p:sp>
        <p:nvSpPr>
          <p:cNvPr id="12" name="Rounded Rectangle 11"/>
          <p:cNvSpPr/>
          <p:nvPr/>
        </p:nvSpPr>
        <p:spPr>
          <a:xfrm>
            <a:off x="12353544" y="4434840"/>
            <a:ext cx="5239512" cy="310896"/>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Horizontal scalability</a:t>
            </a:r>
          </a:p>
        </p:txBody>
      </p:sp>
      <p:sp>
        <p:nvSpPr>
          <p:cNvPr id="13" name="Rounded Rectangle 12"/>
          <p:cNvSpPr/>
          <p:nvPr/>
        </p:nvSpPr>
        <p:spPr>
          <a:xfrm>
            <a:off x="17794224" y="4434840"/>
            <a:ext cx="4142232" cy="310896"/>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Privacy by design</a:t>
            </a:r>
          </a:p>
        </p:txBody>
      </p:sp>
      <p:sp>
        <p:nvSpPr>
          <p:cNvPr id="14" name="Rounded Rectangle 13"/>
          <p:cNvSpPr/>
          <p:nvPr/>
        </p:nvSpPr>
        <p:spPr>
          <a:xfrm>
            <a:off x="22137624" y="4434840"/>
            <a:ext cx="4142232"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Human-in-the-loop</a:t>
            </a:r>
          </a:p>
        </p:txBody>
      </p:sp>
      <p:sp>
        <p:nvSpPr>
          <p:cNvPr id="15" name="TextBox 14"/>
          <p:cNvSpPr txBox="1"/>
          <p:nvPr/>
        </p:nvSpPr>
        <p:spPr>
          <a:xfrm>
            <a:off x="640080" y="5120640"/>
            <a:ext cx="10972800" cy="822960"/>
          </a:xfrm>
          <a:prstGeom prst="rect">
            <a:avLst/>
          </a:prstGeom>
          <a:noFill/>
        </p:spPr>
        <p:txBody>
          <a:bodyPr wrap="square" anchor="t">
            <a:spAutoFit/>
          </a:bodyPr>
          <a:lstStyle/>
          <a:p>
            <a:pPr algn="l"/>
            <a:r>
              <a:rPr sz="1400" b="0">
                <a:solidFill>
                  <a:srgbClr val="94A3B8"/>
                </a:solidFill>
                <a:latin typeface="Segoe UI"/>
              </a:rPr>
              <a:t>Non-negotiable constraints:</a:t>
            </a:r>
          </a:p>
          <a:p>
            <a:pPr algn="l"/>
            <a:r>
              <a:rPr sz="1400" b="0">
                <a:solidFill>
                  <a:srgbClr val="94A3B8"/>
                </a:solidFill>
                <a:latin typeface="Segoe UI"/>
              </a:rPr>
              <a:t>RBAC + MFA · audit trail of every search · biometric retention limits · AI output is NEVER a confirmation.</a:t>
            </a:r>
          </a:p>
        </p:txBody>
      </p:sp>
      <p:sp>
        <p:nvSpPr>
          <p:cNvPr id="16" name="TextBox 15"/>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The Core Engineering Principle</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Everything is designed around one idea: DO NOT PROCESS EVERYTHING</a:t>
            </a:r>
          </a:p>
        </p:txBody>
      </p:sp>
      <p:sp>
        <p:nvSpPr>
          <p:cNvPr id="6" name="Rectangle 5"/>
          <p:cNvSpPr/>
          <p:nvPr/>
        </p:nvSpPr>
        <p:spPr>
          <a:xfrm>
            <a:off x="640080" y="1920240"/>
            <a:ext cx="4937760" cy="3291840"/>
          </a:xfrm>
          <a:prstGeom prst="rect">
            <a:avLst/>
          </a:prstGeom>
          <a:solidFill>
            <a:srgbClr val="111A2C"/>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EF4444"/>
                </a:solidFill>
                <a:latin typeface="Segoe UI"/>
              </a:rPr>
              <a:t>✗ NAIVE APPROACH</a:t>
            </a:r>
          </a:p>
          <a:p>
            <a:pPr algn="ctr"/>
            <a:r>
              <a:rPr sz="1500" b="1">
                <a:solidFill>
                  <a:srgbClr val="E2E8F0"/>
                </a:solidFill>
                <a:latin typeface="Segoe UI"/>
              </a:rPr>
              <a:t/>
            </a:r>
          </a:p>
          <a:p>
            <a:pPr algn="ctr"/>
            <a:r>
              <a:rPr sz="1500" b="0">
                <a:solidFill>
                  <a:srgbClr val="E2E8F0"/>
                </a:solidFill>
                <a:latin typeface="Segoe UI"/>
              </a:rPr>
              <a:t>CCTV → face recognition on</a:t>
            </a:r>
          </a:p>
          <a:p>
            <a:pPr algn="ctr"/>
            <a:r>
              <a:rPr sz="1500" b="0">
                <a:solidFill>
                  <a:srgbClr val="E2E8F0"/>
                </a:solidFill>
                <a:latin typeface="Segoe UI"/>
              </a:rPr>
              <a:t>EVERY frame of EVERY camera</a:t>
            </a:r>
          </a:p>
          <a:p>
            <a:pPr algn="ctr"/>
            <a:r>
              <a:rPr sz="1500" b="1">
                <a:solidFill>
                  <a:srgbClr val="E2E8F0"/>
                </a:solidFill>
                <a:latin typeface="Segoe UI"/>
              </a:rPr>
              <a:t/>
            </a:r>
          </a:p>
          <a:p>
            <a:pPr algn="ctr"/>
            <a:r>
              <a:rPr sz="1300" b="0">
                <a:solidFill>
                  <a:srgbClr val="E2E8F0"/>
                </a:solidFill>
                <a:latin typeface="Segoe UI"/>
              </a:rPr>
              <a:t>· GPU cost explodes with camera count</a:t>
            </a:r>
          </a:p>
          <a:p>
            <a:pPr algn="ctr"/>
            <a:r>
              <a:rPr sz="1300" b="0">
                <a:solidFill>
                  <a:srgbClr val="E2E8F0"/>
                </a:solidFill>
                <a:latin typeface="Segoe UI"/>
              </a:rPr>
              <a:t>· seconds-to-minutes of latency</a:t>
            </a:r>
          </a:p>
          <a:p>
            <a:pPr algn="ctr"/>
            <a:r>
              <a:rPr sz="1300" b="0">
                <a:solidFill>
                  <a:srgbClr val="E2E8F0"/>
                </a:solidFill>
                <a:latin typeface="Segoe UI"/>
              </a:rPr>
              <a:t>· unusable at city scale (1000+ cams)</a:t>
            </a:r>
          </a:p>
        </p:txBody>
      </p:sp>
      <p:sp>
        <p:nvSpPr>
          <p:cNvPr id="7" name="Rectangle 6"/>
          <p:cNvSpPr/>
          <p:nvPr/>
        </p:nvSpPr>
        <p:spPr>
          <a:xfrm>
            <a:off x="6583680" y="1920240"/>
            <a:ext cx="4937760" cy="3291840"/>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2C55E"/>
                </a:solidFill>
                <a:latin typeface="Segoe UI"/>
              </a:rPr>
              <a:t>✓ WARI APPROACH</a:t>
            </a:r>
          </a:p>
          <a:p>
            <a:pPr algn="ctr"/>
            <a:r>
              <a:rPr sz="1500" b="1">
                <a:solidFill>
                  <a:srgbClr val="E2E8F0"/>
                </a:solidFill>
                <a:latin typeface="Segoe UI"/>
              </a:rPr>
              <a:t/>
            </a:r>
          </a:p>
          <a:p>
            <a:pPr algn="ctr"/>
            <a:r>
              <a:rPr sz="1500" b="0">
                <a:solidFill>
                  <a:srgbClr val="E2E8F0"/>
                </a:solidFill>
                <a:latin typeface="Segoe UI"/>
              </a:rPr>
              <a:t>Cheap filters FIRST,</a:t>
            </a:r>
          </a:p>
          <a:p>
            <a:pPr algn="ctr"/>
            <a:r>
              <a:rPr sz="1500" b="0">
                <a:solidFill>
                  <a:srgbClr val="E2E8F0"/>
                </a:solidFill>
                <a:latin typeface="Segoe UI"/>
              </a:rPr>
              <a:t>expensive models LAST,</a:t>
            </a:r>
          </a:p>
          <a:p>
            <a:pPr algn="ctr"/>
            <a:r>
              <a:rPr sz="1500" b="0">
                <a:solidFill>
                  <a:srgbClr val="E2E8F0"/>
                </a:solidFill>
                <a:latin typeface="Segoe UI"/>
              </a:rPr>
              <a:t>on the minimum data</a:t>
            </a:r>
          </a:p>
          <a:p>
            <a:pPr algn="ctr"/>
            <a:r>
              <a:rPr sz="1500" b="1">
                <a:solidFill>
                  <a:srgbClr val="E2E8F0"/>
                </a:solidFill>
                <a:latin typeface="Segoe UI"/>
              </a:rPr>
              <a:t/>
            </a:r>
          </a:p>
          <a:p>
            <a:pPr algn="ctr"/>
            <a:r>
              <a:rPr sz="1300" b="0">
                <a:solidFill>
                  <a:srgbClr val="E2E8F0"/>
                </a:solidFill>
                <a:latin typeface="Segoe UI"/>
              </a:rPr>
              <a:t>· ~99% of pixels discarded in ms</a:t>
            </a:r>
          </a:p>
          <a:p>
            <a:pPr algn="ctr"/>
            <a:r>
              <a:rPr sz="1300" b="0">
                <a:solidFill>
                  <a:srgbClr val="E2E8F0"/>
                </a:solidFill>
                <a:latin typeface="Segoe UI"/>
              </a:rPr>
              <a:t>· 1 embedding per tracked person,</a:t>
            </a:r>
          </a:p>
          <a:p>
            <a:pPr algn="ctr"/>
            <a:r>
              <a:rPr sz="1300" b="0">
                <a:solidFill>
                  <a:srgbClr val="E2E8F0"/>
                </a:solidFill>
                <a:latin typeface="Segoe UI"/>
              </a:rPr>
              <a:t>  not per frame</a:t>
            </a:r>
          </a:p>
          <a:p>
            <a:pPr algn="ctr"/>
            <a:r>
              <a:rPr sz="1300" b="0">
                <a:solidFill>
                  <a:srgbClr val="E2E8F0"/>
                </a:solidFill>
                <a:latin typeface="Segoe UI"/>
              </a:rPr>
              <a:t>· filtered ANN search, not full scan</a:t>
            </a:r>
          </a:p>
        </p:txBody>
      </p:sp>
      <p:sp>
        <p:nvSpPr>
          <p:cNvPr id="8" name="Rounded Rectangle 7"/>
          <p:cNvSpPr/>
          <p:nvPr/>
        </p:nvSpPr>
        <p:spPr>
          <a:xfrm>
            <a:off x="640080" y="5532120"/>
            <a:ext cx="1572768" cy="566928"/>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25 FPS video</a:t>
            </a:r>
          </a:p>
        </p:txBody>
      </p:sp>
      <p:sp>
        <p:nvSpPr>
          <p:cNvPr id="9" name="Right Arrow 8"/>
          <p:cNvSpPr/>
          <p:nvPr/>
        </p:nvSpPr>
        <p:spPr>
          <a:xfrm>
            <a:off x="2231136" y="5715000"/>
            <a:ext cx="146304" cy="201168"/>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95728" y="5532120"/>
            <a:ext cx="1572768" cy="566928"/>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sample @ 5 FPS</a:t>
            </a:r>
          </a:p>
        </p:txBody>
      </p:sp>
      <p:sp>
        <p:nvSpPr>
          <p:cNvPr id="11" name="Right Arrow 10"/>
          <p:cNvSpPr/>
          <p:nvPr/>
        </p:nvSpPr>
        <p:spPr>
          <a:xfrm>
            <a:off x="3986784" y="5715000"/>
            <a:ext cx="146304" cy="201168"/>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51376" y="5532120"/>
            <a:ext cx="1572768" cy="566928"/>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person tracks</a:t>
            </a:r>
          </a:p>
        </p:txBody>
      </p:sp>
      <p:sp>
        <p:nvSpPr>
          <p:cNvPr id="13" name="Right Arrow 12"/>
          <p:cNvSpPr/>
          <p:nvPr/>
        </p:nvSpPr>
        <p:spPr>
          <a:xfrm>
            <a:off x="5742432" y="5715000"/>
            <a:ext cx="146304" cy="201168"/>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07024" y="5532120"/>
            <a:ext cx="1572768" cy="566928"/>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quality-gated faces</a:t>
            </a:r>
          </a:p>
        </p:txBody>
      </p:sp>
      <p:sp>
        <p:nvSpPr>
          <p:cNvPr id="15" name="Right Arrow 14"/>
          <p:cNvSpPr/>
          <p:nvPr/>
        </p:nvSpPr>
        <p:spPr>
          <a:xfrm>
            <a:off x="7498080" y="5715000"/>
            <a:ext cx="146304" cy="201168"/>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662672" y="5532120"/>
            <a:ext cx="1572768" cy="56692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embeddings (GPU)</a:t>
            </a:r>
          </a:p>
        </p:txBody>
      </p:sp>
      <p:sp>
        <p:nvSpPr>
          <p:cNvPr id="17" name="Right Arrow 16"/>
          <p:cNvSpPr/>
          <p:nvPr/>
        </p:nvSpPr>
        <p:spPr>
          <a:xfrm>
            <a:off x="9253728" y="5715000"/>
            <a:ext cx="146304" cy="201168"/>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418320" y="5532120"/>
            <a:ext cx="1572768" cy="56692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vector hits ≥ threshold</a:t>
            </a:r>
          </a:p>
        </p:txBody>
      </p:sp>
      <p:sp>
        <p:nvSpPr>
          <p:cNvPr id="19" name="Right Arrow 18"/>
          <p:cNvSpPr/>
          <p:nvPr/>
        </p:nvSpPr>
        <p:spPr>
          <a:xfrm>
            <a:off x="11009376" y="5715000"/>
            <a:ext cx="146304" cy="201168"/>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173968" y="5532120"/>
            <a:ext cx="1572768" cy="56692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HUMAN VERIFICATION</a:t>
            </a:r>
          </a:p>
        </p:txBody>
      </p:sp>
      <p:sp>
        <p:nvSpPr>
          <p:cNvPr id="21" name="TextBox 20"/>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System Architecture</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End-to-end component diagram — event-driven, horizontally scalable</a:t>
            </a:r>
          </a:p>
        </p:txBody>
      </p:sp>
      <p:sp>
        <p:nvSpPr>
          <p:cNvPr id="6" name="Rectangle 5"/>
          <p:cNvSpPr/>
          <p:nvPr/>
        </p:nvSpPr>
        <p:spPr>
          <a:xfrm>
            <a:off x="3977639" y="1371600"/>
            <a:ext cx="4023360" cy="502920"/>
          </a:xfrm>
          <a:prstGeom prst="rect">
            <a:avLst/>
          </a:prstGeom>
          <a:solidFill>
            <a:srgbClr val="111A2C"/>
          </a:solidFill>
          <a:ln w="1587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CCTV CAMERAS — RTSP / ONVIF / NVR (existing infra)</a:t>
            </a:r>
          </a:p>
        </p:txBody>
      </p:sp>
      <p:sp>
        <p:nvSpPr>
          <p:cNvPr id="7" name="Down Arrow 6"/>
          <p:cNvSpPr/>
          <p:nvPr/>
        </p:nvSpPr>
        <p:spPr>
          <a:xfrm>
            <a:off x="5833871" y="1892807"/>
            <a:ext cx="310896" cy="23774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77639" y="2157984"/>
            <a:ext cx="4023360" cy="566928"/>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CAMERA GATEWAY</a:t>
            </a:r>
          </a:p>
          <a:p>
            <a:pPr algn="ctr"/>
            <a:r>
              <a:rPr sz="1000" b="0">
                <a:solidFill>
                  <a:srgbClr val="94A3B8"/>
                </a:solidFill>
                <a:latin typeface="Segoe UI"/>
              </a:rPr>
              <a:t>sampling · reconnect · heartbeat · SIMULATION_MODE</a:t>
            </a:r>
          </a:p>
        </p:txBody>
      </p:sp>
      <p:sp>
        <p:nvSpPr>
          <p:cNvPr id="9" name="Down Arrow 8"/>
          <p:cNvSpPr/>
          <p:nvPr/>
        </p:nvSpPr>
        <p:spPr>
          <a:xfrm>
            <a:off x="5833871" y="2743200"/>
            <a:ext cx="310896" cy="23774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77639" y="3008376"/>
            <a:ext cx="4023360" cy="969264"/>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EDGE PROCESSING</a:t>
            </a:r>
          </a:p>
          <a:p>
            <a:pPr algn="ctr"/>
            <a:r>
              <a:rPr sz="1000" b="0">
                <a:solidFill>
                  <a:srgbClr val="94A3B8"/>
                </a:solidFill>
                <a:latin typeface="Segoe UI"/>
              </a:rPr>
              <a:t>person detect → tracking → face detect → quality gate → best-face</a:t>
            </a:r>
          </a:p>
        </p:txBody>
      </p:sp>
      <p:sp>
        <p:nvSpPr>
          <p:cNvPr id="11" name="Down Arrow 10"/>
          <p:cNvSpPr/>
          <p:nvPr/>
        </p:nvSpPr>
        <p:spPr>
          <a:xfrm>
            <a:off x="5833871" y="3995928"/>
            <a:ext cx="310896" cy="23774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77639" y="4261104"/>
            <a:ext cx="4023360" cy="566928"/>
          </a:xfrm>
          <a:prstGeom prst="rect">
            <a:avLst/>
          </a:prstGeom>
          <a:solidFill>
            <a:srgbClr val="111A2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EMBEDDING SERVICE (GPU, internal only)</a:t>
            </a:r>
          </a:p>
          <a:p>
            <a:pPr algn="ctr"/>
            <a:r>
              <a:rPr sz="1000" b="0">
                <a:solidFill>
                  <a:srgbClr val="94A3B8"/>
                </a:solidFill>
                <a:latin typeface="Segoe UI"/>
              </a:rPr>
              <a:t>batched ONNX inference — never exposed publicly</a:t>
            </a:r>
          </a:p>
        </p:txBody>
      </p:sp>
      <p:sp>
        <p:nvSpPr>
          <p:cNvPr id="13" name="Down Arrow 12"/>
          <p:cNvSpPr/>
          <p:nvPr/>
        </p:nvSpPr>
        <p:spPr>
          <a:xfrm>
            <a:off x="5833871" y="4846320"/>
            <a:ext cx="310896" cy="23774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77639" y="5111496"/>
            <a:ext cx="4023360" cy="914400"/>
          </a:xfrm>
          <a:prstGeom prst="rect">
            <a:avLst/>
          </a:prstGeom>
          <a:solidFill>
            <a:srgbClr val="111A2C"/>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VECTOR SEARCH (Qdrant) + MATCH RANKING</a:t>
            </a:r>
          </a:p>
          <a:p>
            <a:pPr algn="ctr"/>
            <a:r>
              <a:rPr sz="1000" b="0">
                <a:solidFill>
                  <a:srgbClr val="94A3B8"/>
                </a:solidFill>
                <a:latin typeface="Segoe UI"/>
              </a:rPr>
              <a:t>filtered ANN → tiers → track-level dedup</a:t>
            </a:r>
          </a:p>
        </p:txBody>
      </p:sp>
      <p:sp>
        <p:nvSpPr>
          <p:cNvPr id="15" name="Rectangle 14"/>
          <p:cNvSpPr/>
          <p:nvPr/>
        </p:nvSpPr>
        <p:spPr>
          <a:xfrm>
            <a:off x="8778240" y="1371600"/>
            <a:ext cx="2834640" cy="786384"/>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PostgreSQL</a:t>
            </a:r>
          </a:p>
          <a:p>
            <a:pPr algn="ctr"/>
            <a:r>
              <a:rPr sz="1000" b="0">
                <a:solidFill>
                  <a:srgbClr val="94A3B8"/>
                </a:solidFill>
                <a:latin typeface="Segoe UI"/>
              </a:rPr>
              <a:t>cases · sightings · audit (truth)</a:t>
            </a:r>
          </a:p>
        </p:txBody>
      </p:sp>
      <p:sp>
        <p:nvSpPr>
          <p:cNvPr id="16" name="Rectangle 15"/>
          <p:cNvSpPr/>
          <p:nvPr/>
        </p:nvSpPr>
        <p:spPr>
          <a:xfrm>
            <a:off x="8778240" y="2331720"/>
            <a:ext cx="2834640" cy="786384"/>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Redis</a:t>
            </a:r>
          </a:p>
          <a:p>
            <a:pPr algn="ctr"/>
            <a:r>
              <a:rPr sz="1000" b="0">
                <a:solidFill>
                  <a:srgbClr val="94A3B8"/>
                </a:solidFill>
                <a:latin typeface="Segoe UI"/>
              </a:rPr>
              <a:t>hot state · events · ref cache</a:t>
            </a:r>
          </a:p>
        </p:txBody>
      </p:sp>
      <p:sp>
        <p:nvSpPr>
          <p:cNvPr id="17" name="Rectangle 16"/>
          <p:cNvSpPr/>
          <p:nvPr/>
        </p:nvSpPr>
        <p:spPr>
          <a:xfrm>
            <a:off x="8778240" y="3291840"/>
            <a:ext cx="2834640" cy="786384"/>
          </a:xfrm>
          <a:prstGeom prst="rect">
            <a:avLst/>
          </a:prstGeom>
          <a:solidFill>
            <a:srgbClr val="111A2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Qdrant</a:t>
            </a:r>
          </a:p>
          <a:p>
            <a:pPr algn="ctr"/>
            <a:r>
              <a:rPr sz="1000" b="0">
                <a:solidFill>
                  <a:srgbClr val="94A3B8"/>
                </a:solidFill>
                <a:latin typeface="Segoe UI"/>
              </a:rPr>
              <a:t>face vectors — IDs only, no PII</a:t>
            </a:r>
          </a:p>
        </p:txBody>
      </p:sp>
      <p:sp>
        <p:nvSpPr>
          <p:cNvPr id="18" name="Rectangle 17"/>
          <p:cNvSpPr/>
          <p:nvPr/>
        </p:nvSpPr>
        <p:spPr>
          <a:xfrm>
            <a:off x="8778240" y="4251960"/>
            <a:ext cx="2834640" cy="786384"/>
          </a:xfrm>
          <a:prstGeom prst="rect">
            <a:avLst/>
          </a:prstGeom>
          <a:solidFill>
            <a:srgbClr val="111A2C"/>
          </a:solidFill>
          <a:ln w="1587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Object Store</a:t>
            </a:r>
          </a:p>
          <a:p>
            <a:pPr algn="ctr"/>
            <a:r>
              <a:rPr sz="1000" b="0">
                <a:solidFill>
                  <a:srgbClr val="94A3B8"/>
                </a:solidFill>
                <a:latin typeface="Segoe UI"/>
              </a:rPr>
              <a:t>evidence frames under retention</a:t>
            </a:r>
          </a:p>
        </p:txBody>
      </p:sp>
      <p:sp>
        <p:nvSpPr>
          <p:cNvPr id="19" name="Right Arrow 18"/>
          <p:cNvSpPr/>
          <p:nvPr/>
        </p:nvSpPr>
        <p:spPr>
          <a:xfrm>
            <a:off x="8110727" y="5431536"/>
            <a:ext cx="457200" cy="274320"/>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157984"/>
            <a:ext cx="3063240" cy="786384"/>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Dashboard (React)</a:t>
            </a:r>
          </a:p>
          <a:p>
            <a:pPr algn="ctr"/>
            <a:r>
              <a:rPr sz="1000" b="0">
                <a:solidFill>
                  <a:srgbClr val="94A3B8"/>
                </a:solidFill>
                <a:latin typeface="Segoe UI"/>
              </a:rPr>
              <a:t>live map · sightings feed · review</a:t>
            </a:r>
          </a:p>
        </p:txBody>
      </p:sp>
      <p:sp>
        <p:nvSpPr>
          <p:cNvPr id="21" name="Rectangle 20"/>
          <p:cNvSpPr/>
          <p:nvPr/>
        </p:nvSpPr>
        <p:spPr>
          <a:xfrm>
            <a:off x="502920" y="3145536"/>
            <a:ext cx="3063240" cy="640080"/>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WebSocket events</a:t>
            </a:r>
          </a:p>
          <a:p>
            <a:pPr algn="ctr"/>
            <a:r>
              <a:rPr sz="1000" b="0">
                <a:solidFill>
                  <a:srgbClr val="94A3B8"/>
                </a:solidFill>
                <a:latin typeface="Segoe UI"/>
              </a:rPr>
              <a:t>potential_sighting push</a:t>
            </a:r>
          </a:p>
        </p:txBody>
      </p:sp>
      <p:sp>
        <p:nvSpPr>
          <p:cNvPr id="22" name="Right Arrow 21"/>
          <p:cNvSpPr/>
          <p:nvPr/>
        </p:nvSpPr>
        <p:spPr>
          <a:xfrm>
            <a:off x="3611880" y="2414016"/>
            <a:ext cx="621792" cy="274320"/>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114800"/>
            <a:ext cx="3063240" cy="914400"/>
          </a:xfrm>
          <a:prstGeom prst="rect">
            <a:avLst/>
          </a:prstGeom>
          <a:noFill/>
        </p:spPr>
        <p:txBody>
          <a:bodyPr wrap="square" anchor="t">
            <a:spAutoFit/>
          </a:bodyPr>
          <a:lstStyle/>
          <a:p>
            <a:pPr algn="ctr"/>
            <a:r>
              <a:rPr sz="1100" b="0">
                <a:solidFill>
                  <a:srgbClr val="94A3B8"/>
                </a:solidFill>
                <a:latin typeface="Segoe UI"/>
              </a:rPr>
              <a:t>Redis pub/sub
decouples
all services</a:t>
            </a:r>
          </a:p>
        </p:txBody>
      </p:sp>
      <p:sp>
        <p:nvSpPr>
          <p:cNvPr id="24" name="Rounded Rectangle 23"/>
          <p:cNvSpPr/>
          <p:nvPr/>
        </p:nvSpPr>
        <p:spPr>
          <a:xfrm>
            <a:off x="8778240" y="5349240"/>
            <a:ext cx="283464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B1220"/>
                </a:solidFill>
                <a:latin typeface="Segoe UI"/>
              </a:rPr>
              <a:t>HUMAN VERIFICATION REQUIRED</a:t>
            </a:r>
          </a:p>
        </p:txBody>
      </p:sp>
      <p:sp>
        <p:nvSpPr>
          <p:cNvPr id="25" name="TextBox 24"/>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Camera Gateway — Ingestion Layer</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services/pipeline/pipeline/gateway.py</a:t>
            </a:r>
          </a:p>
        </p:txBody>
      </p:sp>
      <p:sp>
        <p:nvSpPr>
          <p:cNvPr id="6" name="Rectangle 5"/>
          <p:cNvSpPr/>
          <p:nvPr/>
        </p:nvSpPr>
        <p:spPr>
          <a:xfrm>
            <a:off x="640080" y="1554480"/>
            <a:ext cx="54864" cy="60350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17904"/>
            <a:ext cx="6949440" cy="731520"/>
          </a:xfrm>
          <a:prstGeom prst="rect">
            <a:avLst/>
          </a:prstGeom>
          <a:noFill/>
        </p:spPr>
        <p:txBody>
          <a:bodyPr wrap="square" anchor="t">
            <a:spAutoFit/>
          </a:bodyPr>
          <a:lstStyle/>
          <a:p>
            <a:pPr algn="l"/>
            <a:r>
              <a:rPr sz="1500" b="1">
                <a:solidFill>
                  <a:srgbClr val="E2E8F0"/>
                </a:solidFill>
                <a:latin typeface="Segoe UI"/>
              </a:rPr>
              <a:t>Persistent RTSP connections</a:t>
            </a:r>
          </a:p>
          <a:p>
            <a:pPr algn="l"/>
            <a:r>
              <a:rPr sz="1250" b="0">
                <a:solidFill>
                  <a:srgbClr val="94A3B8"/>
                </a:solidFill>
                <a:latin typeface="Segoe UI"/>
              </a:rPr>
              <a:t>auto-reconnect with exponential backoff (1s→30s)</a:t>
            </a:r>
          </a:p>
        </p:txBody>
      </p:sp>
      <p:sp>
        <p:nvSpPr>
          <p:cNvPr id="8" name="Rectangle 7"/>
          <p:cNvSpPr/>
          <p:nvPr/>
        </p:nvSpPr>
        <p:spPr>
          <a:xfrm>
            <a:off x="640080" y="2304288"/>
            <a:ext cx="54864" cy="60350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67712"/>
            <a:ext cx="6949440" cy="731520"/>
          </a:xfrm>
          <a:prstGeom prst="rect">
            <a:avLst/>
          </a:prstGeom>
          <a:noFill/>
        </p:spPr>
        <p:txBody>
          <a:bodyPr wrap="square" anchor="t">
            <a:spAutoFit/>
          </a:bodyPr>
          <a:lstStyle/>
          <a:p>
            <a:pPr algn="l"/>
            <a:r>
              <a:rPr sz="1500" b="1">
                <a:solidFill>
                  <a:srgbClr val="E2E8F0"/>
                </a:solidFill>
                <a:latin typeface="Segoe UI"/>
              </a:rPr>
              <a:t>Stream health monitoring</a:t>
            </a:r>
          </a:p>
          <a:p>
            <a:pPr algn="l"/>
            <a:r>
              <a:rPr sz="1250" b="0">
                <a:solidFill>
                  <a:srgbClr val="94A3B8"/>
                </a:solidFill>
                <a:latin typeface="Segoe UI"/>
              </a:rPr>
              <a:t>frozen-stream detection, dropped-frame counters, per-camera status</a:t>
            </a:r>
          </a:p>
        </p:txBody>
      </p:sp>
      <p:sp>
        <p:nvSpPr>
          <p:cNvPr id="10" name="Rectangle 9"/>
          <p:cNvSpPr/>
          <p:nvPr/>
        </p:nvSpPr>
        <p:spPr>
          <a:xfrm>
            <a:off x="640080" y="3054096"/>
            <a:ext cx="54864" cy="60350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017520"/>
            <a:ext cx="6949440" cy="731520"/>
          </a:xfrm>
          <a:prstGeom prst="rect">
            <a:avLst/>
          </a:prstGeom>
          <a:noFill/>
        </p:spPr>
        <p:txBody>
          <a:bodyPr wrap="square" anchor="t">
            <a:spAutoFit/>
          </a:bodyPr>
          <a:lstStyle/>
          <a:p>
            <a:pPr algn="l"/>
            <a:r>
              <a:rPr sz="1500" b="1">
                <a:solidFill>
                  <a:srgbClr val="E2E8F0"/>
                </a:solidFill>
                <a:latin typeface="Segoe UI"/>
              </a:rPr>
              <a:t>Configurable sampling</a:t>
            </a:r>
          </a:p>
          <a:p>
            <a:pPr algn="l"/>
            <a:r>
              <a:rPr sz="1250" b="0">
                <a:solidFill>
                  <a:srgbClr val="94A3B8"/>
                </a:solidFill>
                <a:latin typeface="Segoe UI"/>
              </a:rPr>
              <a:t>25 fps source → analytical sample_fps (e.g. 5 fps), per camera</a:t>
            </a:r>
          </a:p>
        </p:txBody>
      </p:sp>
      <p:sp>
        <p:nvSpPr>
          <p:cNvPr id="12" name="Rectangle 11"/>
          <p:cNvSpPr/>
          <p:nvPr/>
        </p:nvSpPr>
        <p:spPr>
          <a:xfrm>
            <a:off x="640080" y="3803904"/>
            <a:ext cx="54864" cy="60350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767328"/>
            <a:ext cx="6949440" cy="731520"/>
          </a:xfrm>
          <a:prstGeom prst="rect">
            <a:avLst/>
          </a:prstGeom>
          <a:noFill/>
        </p:spPr>
        <p:txBody>
          <a:bodyPr wrap="square" anchor="t">
            <a:spAutoFit/>
          </a:bodyPr>
          <a:lstStyle/>
          <a:p>
            <a:pPr algn="l"/>
            <a:r>
              <a:rPr sz="1500" b="1">
                <a:solidFill>
                  <a:srgbClr val="E2E8F0"/>
                </a:solidFill>
                <a:latin typeface="Segoe UI"/>
              </a:rPr>
              <a:t>Low-latency decode</a:t>
            </a:r>
          </a:p>
          <a:p>
            <a:pPr algn="l"/>
            <a:r>
              <a:rPr sz="1250" b="0">
                <a:solidFill>
                  <a:srgbClr val="94A3B8"/>
                </a:solidFill>
                <a:latin typeface="Segoe UI"/>
              </a:rPr>
              <a:t>FFmpeg backend, small buffers, cheap frame-skip via grab()</a:t>
            </a:r>
          </a:p>
        </p:txBody>
      </p:sp>
      <p:sp>
        <p:nvSpPr>
          <p:cNvPr id="14" name="Rectangle 13"/>
          <p:cNvSpPr/>
          <p:nvPr/>
        </p:nvSpPr>
        <p:spPr>
          <a:xfrm>
            <a:off x="640080" y="4553712"/>
            <a:ext cx="54864" cy="60350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517136"/>
            <a:ext cx="6949440" cy="731520"/>
          </a:xfrm>
          <a:prstGeom prst="rect">
            <a:avLst/>
          </a:prstGeom>
          <a:noFill/>
        </p:spPr>
        <p:txBody>
          <a:bodyPr wrap="square" anchor="t">
            <a:spAutoFit/>
          </a:bodyPr>
          <a:lstStyle/>
          <a:p>
            <a:pPr algn="l"/>
            <a:r>
              <a:rPr sz="1500" b="1">
                <a:solidFill>
                  <a:srgbClr val="E2E8F0"/>
                </a:solidFill>
                <a:latin typeface="Segoe UI"/>
              </a:rPr>
              <a:t>Heartbeats</a:t>
            </a:r>
          </a:p>
          <a:p>
            <a:pPr algn="l"/>
            <a:r>
              <a:rPr sz="1250" b="0">
                <a:solidFill>
                  <a:srgbClr val="94A3B8"/>
                </a:solidFill>
                <a:latin typeface="Segoe UI"/>
              </a:rPr>
              <a:t>camera status published to Redis → live dashboard health grid</a:t>
            </a:r>
          </a:p>
        </p:txBody>
      </p:sp>
      <p:sp>
        <p:nvSpPr>
          <p:cNvPr id="16" name="Rectangle 15"/>
          <p:cNvSpPr/>
          <p:nvPr/>
        </p:nvSpPr>
        <p:spPr>
          <a:xfrm>
            <a:off x="640080" y="5303520"/>
            <a:ext cx="54864" cy="603504"/>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266944"/>
            <a:ext cx="6949440" cy="731520"/>
          </a:xfrm>
          <a:prstGeom prst="rect">
            <a:avLst/>
          </a:prstGeom>
          <a:noFill/>
        </p:spPr>
        <p:txBody>
          <a:bodyPr wrap="square" anchor="t">
            <a:spAutoFit/>
          </a:bodyPr>
          <a:lstStyle/>
          <a:p>
            <a:pPr algn="l"/>
            <a:r>
              <a:rPr sz="1500" b="1">
                <a:solidFill>
                  <a:srgbClr val="E2E8F0"/>
                </a:solidFill>
                <a:latin typeface="Segoe UI"/>
              </a:rPr>
              <a:t>Memory-only processing</a:t>
            </a:r>
          </a:p>
          <a:p>
            <a:pPr algn="l"/>
            <a:r>
              <a:rPr sz="1250" b="0">
                <a:solidFill>
                  <a:srgbClr val="94A3B8"/>
                </a:solidFill>
                <a:latin typeface="Segoe UI"/>
              </a:rPr>
              <a:t>frames are never persisted unless they become evidence</a:t>
            </a:r>
          </a:p>
        </p:txBody>
      </p:sp>
      <p:sp>
        <p:nvSpPr>
          <p:cNvPr id="18" name="Rectangle 17"/>
          <p:cNvSpPr/>
          <p:nvPr/>
        </p:nvSpPr>
        <p:spPr>
          <a:xfrm>
            <a:off x="8138160" y="1554480"/>
            <a:ext cx="3566160" cy="3017520"/>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2C55E"/>
                </a:solidFill>
                <a:latin typeface="Segoe UI"/>
              </a:rPr>
              <a:t>TWO MODES</a:t>
            </a:r>
          </a:p>
          <a:p>
            <a:pPr algn="ctr"/>
            <a:r>
              <a:rPr sz="1400" b="1">
                <a:solidFill>
                  <a:srgbClr val="E2E8F0"/>
                </a:solidFill>
                <a:latin typeface="Segoe UI"/>
              </a:rPr>
              <a:t/>
            </a:r>
          </a:p>
          <a:p>
            <a:pPr algn="ctr"/>
            <a:r>
              <a:rPr sz="1400" b="1">
                <a:solidFill>
                  <a:srgbClr val="E2E8F0"/>
                </a:solidFill>
                <a:latin typeface="Segoe UI"/>
              </a:rPr>
              <a:t>REAL_CAMERA_MODE</a:t>
            </a:r>
          </a:p>
          <a:p>
            <a:pPr algn="ctr"/>
            <a:r>
              <a:rPr sz="1200" b="0">
                <a:solidFill>
                  <a:srgbClr val="E2E8F0"/>
                </a:solidFill>
                <a:latin typeface="Segoe UI"/>
              </a:rPr>
              <a:t>rtsp:// streams from registry;</a:t>
            </a:r>
          </a:p>
          <a:p>
            <a:pPr algn="ctr"/>
            <a:r>
              <a:rPr sz="1200" b="0">
                <a:solidFill>
                  <a:srgbClr val="E2E8F0"/>
                </a:solidFill>
                <a:latin typeface="Segoe UI"/>
              </a:rPr>
              <a:t>credentials encrypted server-side,</a:t>
            </a:r>
          </a:p>
          <a:p>
            <a:pPr algn="ctr"/>
            <a:r>
              <a:rPr sz="1200" b="0">
                <a:solidFill>
                  <a:srgbClr val="E2E8F0"/>
                </a:solidFill>
                <a:latin typeface="Segoe UI"/>
              </a:rPr>
              <a:t>never sent to the frontend</a:t>
            </a:r>
          </a:p>
          <a:p>
            <a:pPr algn="ctr"/>
            <a:r>
              <a:rPr sz="1400" b="1">
                <a:solidFill>
                  <a:srgbClr val="E2E8F0"/>
                </a:solidFill>
                <a:latin typeface="Segoe UI"/>
              </a:rPr>
              <a:t/>
            </a:r>
          </a:p>
          <a:p>
            <a:pPr algn="ctr"/>
            <a:r>
              <a:rPr sz="1400" b="1">
                <a:solidFill>
                  <a:srgbClr val="E2E8F0"/>
                </a:solidFill>
                <a:latin typeface="Segoe UI"/>
              </a:rPr>
              <a:t>SIMULATION_MODE</a:t>
            </a:r>
          </a:p>
          <a:p>
            <a:pPr algn="ctr"/>
            <a:r>
              <a:rPr sz="1200" b="0">
                <a:solidFill>
                  <a:srgbClr val="E2E8F0"/>
                </a:solidFill>
                <a:latin typeface="Segoe UI"/>
              </a:rPr>
              <a:t>synthetic cameras &amp; faces —</a:t>
            </a:r>
          </a:p>
          <a:p>
            <a:pPr algn="ctr"/>
            <a:r>
              <a:rPr sz="1200" b="0">
                <a:solidFill>
                  <a:srgbClr val="E2E8F0"/>
                </a:solidFill>
                <a:latin typeface="Segoe UI"/>
              </a:rPr>
              <a:t>full pipeline testable with zero</a:t>
            </a:r>
          </a:p>
          <a:p>
            <a:pPr algn="ctr"/>
            <a:r>
              <a:rPr sz="1200" b="0">
                <a:solidFill>
                  <a:srgbClr val="E2E8F0"/>
                </a:solidFill>
                <a:latin typeface="Segoe UI"/>
              </a:rPr>
              <a:t>real biometric data</a:t>
            </a:r>
          </a:p>
        </p:txBody>
      </p:sp>
      <p:sp>
        <p:nvSpPr>
          <p:cNvPr id="19" name="TextBox 1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Edge Processing Pipeline</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Frame journey through the cheap-to-expensive stages</a:t>
            </a:r>
          </a:p>
        </p:txBody>
      </p:sp>
      <p:sp>
        <p:nvSpPr>
          <p:cNvPr id="6" name="Rectangle 5"/>
          <p:cNvSpPr/>
          <p:nvPr/>
        </p:nvSpPr>
        <p:spPr>
          <a:xfrm>
            <a:off x="822960" y="1600200"/>
            <a:ext cx="3291840" cy="530352"/>
          </a:xfrm>
          <a:prstGeom prst="rect">
            <a:avLst/>
          </a:prstGeom>
          <a:solidFill>
            <a:srgbClr val="111A2C"/>
          </a:solidFill>
          <a:ln w="1587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FRAME SAMPLING</a:t>
            </a:r>
          </a:p>
        </p:txBody>
      </p:sp>
      <p:sp>
        <p:nvSpPr>
          <p:cNvPr id="7" name="TextBox 6"/>
          <p:cNvSpPr txBox="1"/>
          <p:nvPr/>
        </p:nvSpPr>
        <p:spPr>
          <a:xfrm>
            <a:off x="4343400" y="1709928"/>
            <a:ext cx="4206240" cy="365760"/>
          </a:xfrm>
          <a:prstGeom prst="rect">
            <a:avLst/>
          </a:prstGeom>
          <a:noFill/>
        </p:spPr>
        <p:txBody>
          <a:bodyPr wrap="square" anchor="t">
            <a:spAutoFit/>
          </a:bodyPr>
          <a:lstStyle/>
          <a:p>
            <a:pPr algn="l"/>
            <a:r>
              <a:rPr sz="1250" b="0">
                <a:solidFill>
                  <a:srgbClr val="94A3B8"/>
                </a:solidFill>
                <a:latin typeface="Segoe UI"/>
              </a:rPr>
              <a:t>skip frames between samples</a:t>
            </a:r>
          </a:p>
        </p:txBody>
      </p:sp>
      <p:sp>
        <p:nvSpPr>
          <p:cNvPr id="8" name="Down Arrow 7"/>
          <p:cNvSpPr/>
          <p:nvPr/>
        </p:nvSpPr>
        <p:spPr>
          <a:xfrm>
            <a:off x="2377440" y="2112264"/>
            <a:ext cx="182880" cy="14630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249424"/>
            <a:ext cx="3291840" cy="530352"/>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PERSON DETECTION</a:t>
            </a:r>
          </a:p>
        </p:txBody>
      </p:sp>
      <p:sp>
        <p:nvSpPr>
          <p:cNvPr id="10" name="TextBox 9"/>
          <p:cNvSpPr txBox="1"/>
          <p:nvPr/>
        </p:nvSpPr>
        <p:spPr>
          <a:xfrm>
            <a:off x="4343400" y="2359152"/>
            <a:ext cx="4206240" cy="365760"/>
          </a:xfrm>
          <a:prstGeom prst="rect">
            <a:avLst/>
          </a:prstGeom>
          <a:noFill/>
        </p:spPr>
        <p:txBody>
          <a:bodyPr wrap="square" anchor="t">
            <a:spAutoFit/>
          </a:bodyPr>
          <a:lstStyle/>
          <a:p>
            <a:pPr algn="l"/>
            <a:r>
              <a:rPr sz="1250" b="0">
                <a:solidFill>
                  <a:srgbClr val="94A3B8"/>
                </a:solidFill>
                <a:latin typeface="Segoe UI"/>
              </a:rPr>
              <a:t>YOLO ONNX · boxes + confidence</a:t>
            </a:r>
          </a:p>
        </p:txBody>
      </p:sp>
      <p:sp>
        <p:nvSpPr>
          <p:cNvPr id="11" name="Down Arrow 10"/>
          <p:cNvSpPr/>
          <p:nvPr/>
        </p:nvSpPr>
        <p:spPr>
          <a:xfrm>
            <a:off x="2377440" y="2761488"/>
            <a:ext cx="182880" cy="14630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898648"/>
            <a:ext cx="3291840" cy="530352"/>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TRACKING (IoU/MOT)</a:t>
            </a:r>
          </a:p>
        </p:txBody>
      </p:sp>
      <p:sp>
        <p:nvSpPr>
          <p:cNvPr id="13" name="TextBox 12"/>
          <p:cNvSpPr txBox="1"/>
          <p:nvPr/>
        </p:nvSpPr>
        <p:spPr>
          <a:xfrm>
            <a:off x="4343400" y="3008376"/>
            <a:ext cx="4206240" cy="365760"/>
          </a:xfrm>
          <a:prstGeom prst="rect">
            <a:avLst/>
          </a:prstGeom>
          <a:noFill/>
        </p:spPr>
        <p:txBody>
          <a:bodyPr wrap="square" anchor="t">
            <a:spAutoFit/>
          </a:bodyPr>
          <a:lstStyle/>
          <a:p>
            <a:pPr algn="l"/>
            <a:r>
              <a:rPr sz="1250" b="0">
                <a:solidFill>
                  <a:srgbClr val="94A3B8"/>
                </a:solidFill>
                <a:latin typeface="Segoe UI"/>
              </a:rPr>
              <a:t>track_id · trajectory · lifecycle</a:t>
            </a:r>
          </a:p>
        </p:txBody>
      </p:sp>
      <p:sp>
        <p:nvSpPr>
          <p:cNvPr id="14" name="Down Arrow 13"/>
          <p:cNvSpPr/>
          <p:nvPr/>
        </p:nvSpPr>
        <p:spPr>
          <a:xfrm>
            <a:off x="2377440" y="3410712"/>
            <a:ext cx="182880" cy="14630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547872"/>
            <a:ext cx="3291840" cy="530352"/>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FACE DETECTION</a:t>
            </a:r>
          </a:p>
        </p:txBody>
      </p:sp>
      <p:sp>
        <p:nvSpPr>
          <p:cNvPr id="16" name="TextBox 15"/>
          <p:cNvSpPr txBox="1"/>
          <p:nvPr/>
        </p:nvSpPr>
        <p:spPr>
          <a:xfrm>
            <a:off x="4343400" y="3657600"/>
            <a:ext cx="4206240" cy="365760"/>
          </a:xfrm>
          <a:prstGeom prst="rect">
            <a:avLst/>
          </a:prstGeom>
          <a:noFill/>
        </p:spPr>
        <p:txBody>
          <a:bodyPr wrap="square" anchor="t">
            <a:spAutoFit/>
          </a:bodyPr>
          <a:lstStyle/>
          <a:p>
            <a:pPr algn="l"/>
            <a:r>
              <a:rPr sz="1250" b="0">
                <a:solidFill>
                  <a:srgbClr val="94A3B8"/>
                </a:solidFill>
                <a:latin typeface="Segoe UI"/>
              </a:rPr>
              <a:t>on person crop only</a:t>
            </a:r>
          </a:p>
        </p:txBody>
      </p:sp>
      <p:sp>
        <p:nvSpPr>
          <p:cNvPr id="17" name="Down Arrow 16"/>
          <p:cNvSpPr/>
          <p:nvPr/>
        </p:nvSpPr>
        <p:spPr>
          <a:xfrm>
            <a:off x="2377440" y="4059936"/>
            <a:ext cx="182880" cy="14630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4197096"/>
            <a:ext cx="3291840" cy="530352"/>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QUALITY ASSESSMENT</a:t>
            </a:r>
          </a:p>
        </p:txBody>
      </p:sp>
      <p:sp>
        <p:nvSpPr>
          <p:cNvPr id="19" name="TextBox 18"/>
          <p:cNvSpPr txBox="1"/>
          <p:nvPr/>
        </p:nvSpPr>
        <p:spPr>
          <a:xfrm>
            <a:off x="4343400" y="4306824"/>
            <a:ext cx="4206240" cy="365760"/>
          </a:xfrm>
          <a:prstGeom prst="rect">
            <a:avLst/>
          </a:prstGeom>
          <a:noFill/>
        </p:spPr>
        <p:txBody>
          <a:bodyPr wrap="square" anchor="t">
            <a:spAutoFit/>
          </a:bodyPr>
          <a:lstStyle/>
          <a:p>
            <a:pPr algn="l"/>
            <a:r>
              <a:rPr sz="1250" b="0">
                <a:solidFill>
                  <a:srgbClr val="94A3B8"/>
                </a:solidFill>
                <a:latin typeface="Segoe UI"/>
              </a:rPr>
              <a:t>size·sharpness·brightness·conf</a:t>
            </a:r>
          </a:p>
        </p:txBody>
      </p:sp>
      <p:sp>
        <p:nvSpPr>
          <p:cNvPr id="20" name="Down Arrow 19"/>
          <p:cNvSpPr/>
          <p:nvPr/>
        </p:nvSpPr>
        <p:spPr>
          <a:xfrm>
            <a:off x="2377440" y="4709160"/>
            <a:ext cx="182880" cy="14630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846320"/>
            <a:ext cx="3291840" cy="530352"/>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BEST-FACE SELECTION</a:t>
            </a:r>
          </a:p>
        </p:txBody>
      </p:sp>
      <p:sp>
        <p:nvSpPr>
          <p:cNvPr id="22" name="TextBox 21"/>
          <p:cNvSpPr txBox="1"/>
          <p:nvPr/>
        </p:nvSpPr>
        <p:spPr>
          <a:xfrm>
            <a:off x="4343400" y="4956048"/>
            <a:ext cx="4206240" cy="365760"/>
          </a:xfrm>
          <a:prstGeom prst="rect">
            <a:avLst/>
          </a:prstGeom>
          <a:noFill/>
        </p:spPr>
        <p:txBody>
          <a:bodyPr wrap="square" anchor="t">
            <a:spAutoFit/>
          </a:bodyPr>
          <a:lstStyle/>
          <a:p>
            <a:pPr algn="l"/>
            <a:r>
              <a:rPr sz="1250" b="0">
                <a:solidFill>
                  <a:srgbClr val="94A3B8"/>
                </a:solidFill>
                <a:latin typeface="Segoe UI"/>
              </a:rPr>
              <a:t>1 face per track, not per frame</a:t>
            </a:r>
          </a:p>
        </p:txBody>
      </p:sp>
      <p:sp>
        <p:nvSpPr>
          <p:cNvPr id="23" name="Down Arrow 22"/>
          <p:cNvSpPr/>
          <p:nvPr/>
        </p:nvSpPr>
        <p:spPr>
          <a:xfrm>
            <a:off x="2377440" y="5358384"/>
            <a:ext cx="182880" cy="146304"/>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5495544"/>
            <a:ext cx="3291840" cy="530352"/>
          </a:xfrm>
          <a:prstGeom prst="rect">
            <a:avLst/>
          </a:prstGeom>
          <a:solidFill>
            <a:srgbClr val="111A2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2E8F0"/>
                </a:solidFill>
                <a:latin typeface="Segoe UI"/>
              </a:rPr>
              <a:t>EMBEDDING (GPU)</a:t>
            </a:r>
          </a:p>
        </p:txBody>
      </p:sp>
      <p:sp>
        <p:nvSpPr>
          <p:cNvPr id="25" name="TextBox 24"/>
          <p:cNvSpPr txBox="1"/>
          <p:nvPr/>
        </p:nvSpPr>
        <p:spPr>
          <a:xfrm>
            <a:off x="4343400" y="5605272"/>
            <a:ext cx="4206240" cy="365760"/>
          </a:xfrm>
          <a:prstGeom prst="rect">
            <a:avLst/>
          </a:prstGeom>
          <a:noFill/>
        </p:spPr>
        <p:txBody>
          <a:bodyPr wrap="square" anchor="t">
            <a:spAutoFit/>
          </a:bodyPr>
          <a:lstStyle/>
          <a:p>
            <a:pPr algn="l"/>
            <a:r>
              <a:rPr sz="1250" b="0">
                <a:solidFill>
                  <a:srgbClr val="94A3B8"/>
                </a:solidFill>
                <a:latin typeface="Segoe UI"/>
              </a:rPr>
              <a:t>batched ArcFace inference</a:t>
            </a:r>
          </a:p>
        </p:txBody>
      </p:sp>
      <p:sp>
        <p:nvSpPr>
          <p:cNvPr id="26" name="Rectangle 25"/>
          <p:cNvSpPr/>
          <p:nvPr/>
        </p:nvSpPr>
        <p:spPr>
          <a:xfrm>
            <a:off x="8869680" y="2377440"/>
            <a:ext cx="2834640" cy="1554480"/>
          </a:xfrm>
          <a:prstGeom prst="rect">
            <a:avLst/>
          </a:prstGeom>
          <a:solidFill>
            <a:srgbClr val="111A2C"/>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E2E8F0"/>
                </a:solidFill>
                <a:latin typeface="Segoe UI"/>
              </a:rPr>
              <a:t>QUALITY &lt; 0.45 ?</a:t>
            </a:r>
          </a:p>
          <a:p>
            <a:pPr algn="ctr"/>
            <a:r>
              <a:rPr sz="1300" b="1">
                <a:solidFill>
                  <a:srgbClr val="EF4444"/>
                </a:solidFill>
                <a:latin typeface="Segoe UI"/>
              </a:rPr>
              <a:t>YES → DISCARD</a:t>
            </a:r>
          </a:p>
          <a:p>
            <a:pPr algn="ctr"/>
            <a:r>
              <a:rPr sz="1100" b="0">
                <a:solidFill>
                  <a:srgbClr val="94A3B8"/>
                </a:solidFill>
                <a:latin typeface="Segoe UI"/>
              </a:rPr>
              <a:t>no GPU spent on bad faces</a:t>
            </a:r>
          </a:p>
        </p:txBody>
      </p:sp>
      <p:sp>
        <p:nvSpPr>
          <p:cNvPr id="27" name="Right Arrow 26"/>
          <p:cNvSpPr/>
          <p:nvPr/>
        </p:nvSpPr>
        <p:spPr>
          <a:xfrm>
            <a:off x="7863840" y="4087368"/>
            <a:ext cx="822960" cy="274320"/>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989320"/>
            <a:ext cx="10789920" cy="640080"/>
          </a:xfrm>
          <a:prstGeom prst="rect">
            <a:avLst/>
          </a:prstGeom>
          <a:noFill/>
        </p:spPr>
        <p:txBody>
          <a:bodyPr wrap="square" anchor="t">
            <a:spAutoFit/>
          </a:bodyPr>
          <a:lstStyle/>
          <a:p>
            <a:pPr algn="l"/>
            <a:r>
              <a:rPr sz="1300" b="0">
                <a:solidFill>
                  <a:srgbClr val="22C55E"/>
                </a:solidFill>
                <a:latin typeface="Segoe UI"/>
              </a:rPr>
              <a:t>Result: GPU sees only the best face of each tracked person.</a:t>
            </a:r>
          </a:p>
          <a:p>
            <a:pPr algn="l"/>
            <a:r>
              <a:rPr sz="1300" b="0">
                <a:solidFill>
                  <a:srgbClr val="22C55E"/>
                </a:solidFill>
                <a:latin typeface="Segoe UI"/>
              </a:rPr>
              <a:t>Typical reduction: 25 fps × all people  →  ~1 embedding / person / pass.</a:t>
            </a:r>
          </a:p>
        </p:txBody>
      </p:sp>
      <p:sp>
        <p:nvSpPr>
          <p:cNvPr id="29" name="TextBox 2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Embedding Service &amp; Vector Search</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Internal GPU microservice + Qdrant ANN with metadata filtering</a:t>
            </a:r>
          </a:p>
        </p:txBody>
      </p:sp>
      <p:sp>
        <p:nvSpPr>
          <p:cNvPr id="6" name="Rectangle 5"/>
          <p:cNvSpPr/>
          <p:nvPr/>
        </p:nvSpPr>
        <p:spPr>
          <a:xfrm>
            <a:off x="640080" y="1554480"/>
            <a:ext cx="5212080" cy="2834640"/>
          </a:xfrm>
          <a:prstGeom prst="rect">
            <a:avLst/>
          </a:prstGeom>
          <a:solidFill>
            <a:srgbClr val="111A2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59E0B"/>
                </a:solidFill>
                <a:latin typeface="Segoe UI"/>
              </a:rPr>
              <a:t>EMBEDDING SERVICE  (internal API only)</a:t>
            </a:r>
          </a:p>
          <a:p>
            <a:pPr algn="ctr"/>
            <a:r>
              <a:rPr sz="1200" b="0">
                <a:solidFill>
                  <a:srgbClr val="E2E8F0"/>
                </a:solidFill>
                <a:latin typeface="Consolas"/>
              </a:rPr>
              <a:t>POST /internal/embedding[/batch]</a:t>
            </a:r>
          </a:p>
          <a:p>
            <a:pPr algn="ctr"/>
            <a:r>
              <a:rPr sz="1300" b="0">
                <a:solidFill>
                  <a:srgbClr val="E2E8F0"/>
                </a:solidFill>
                <a:latin typeface="Segoe UI"/>
              </a:rPr>
              <a:t>decode → detect → align 112×112 → ArcFace → L2-norm</a:t>
            </a:r>
          </a:p>
          <a:p>
            <a:pPr algn="ctr"/>
            <a:r>
              <a:rPr sz="1300" b="1">
                <a:solidFill>
                  <a:srgbClr val="E2E8F0"/>
                </a:solidFill>
                <a:latin typeface="Segoe UI"/>
              </a:rPr>
              <a:t/>
            </a:r>
          </a:p>
          <a:p>
            <a:pPr algn="ctr"/>
            <a:r>
              <a:rPr sz="1300" b="0">
                <a:solidFill>
                  <a:srgbClr val="E2E8F0"/>
                </a:solidFill>
                <a:latin typeface="Segoe UI"/>
              </a:rPr>
              <a:t>Micro-batch pool across cameras:</a:t>
            </a:r>
          </a:p>
          <a:p>
            <a:pPr algn="ctr"/>
            <a:r>
              <a:rPr sz="1200" b="0">
                <a:solidFill>
                  <a:srgbClr val="E2E8F0"/>
                </a:solidFill>
                <a:latin typeface="Segoe UI"/>
              </a:rPr>
              <a:t>· adaptive batch ≤ 8 faces or ≤ 40 ms wait</a:t>
            </a:r>
          </a:p>
          <a:p>
            <a:pPr algn="ctr"/>
            <a:r>
              <a:rPr sz="1200" b="0">
                <a:solidFill>
                  <a:srgbClr val="E2E8F0"/>
                </a:solidFill>
                <a:latin typeface="Segoe UI"/>
              </a:rPr>
              <a:t>· bounded queue (256) = backpressure</a:t>
            </a:r>
          </a:p>
          <a:p>
            <a:pPr algn="ctr"/>
            <a:r>
              <a:rPr sz="1200" b="0">
                <a:solidFill>
                  <a:srgbClr val="E2E8F0"/>
                </a:solidFill>
                <a:latin typeface="Segoe UI"/>
              </a:rPr>
              <a:t>· stale jobs expire — freshness &gt; completeness</a:t>
            </a:r>
          </a:p>
          <a:p>
            <a:pPr algn="ctr"/>
            <a:r>
              <a:rPr sz="1200" b="0">
                <a:solidFill>
                  <a:srgbClr val="E2E8F0"/>
                </a:solidFill>
                <a:latin typeface="Segoe UI"/>
              </a:rPr>
              <a:t>· worker failure → circuit breaker, auto-retry</a:t>
            </a:r>
          </a:p>
        </p:txBody>
      </p:sp>
      <p:sp>
        <p:nvSpPr>
          <p:cNvPr id="7" name="Rectangle 6"/>
          <p:cNvSpPr/>
          <p:nvPr/>
        </p:nvSpPr>
        <p:spPr>
          <a:xfrm>
            <a:off x="6309360" y="1554480"/>
            <a:ext cx="5212080" cy="2834640"/>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38BDF8"/>
                </a:solidFill>
                <a:latin typeface="Segoe UI"/>
              </a:rPr>
              <a:t>QDRANT VECTOR DATABASE</a:t>
            </a:r>
          </a:p>
          <a:p>
            <a:pPr algn="ctr"/>
            <a:r>
              <a:rPr sz="1200" b="0">
                <a:solidFill>
                  <a:srgbClr val="E2E8F0"/>
                </a:solidFill>
                <a:latin typeface="Consolas"/>
              </a:rPr>
              <a:t>collection: face_observations (cosine)</a:t>
            </a:r>
          </a:p>
          <a:p>
            <a:pPr algn="ctr"/>
            <a:r>
              <a:rPr sz="1200" b="0">
                <a:solidFill>
                  <a:srgbClr val="E2E8F0"/>
                </a:solidFill>
                <a:latin typeface="Consolas"/>
              </a:rPr>
              <a:t>payload: embedding_id, camera_id,</a:t>
            </a:r>
          </a:p>
          <a:p>
            <a:pPr algn="ctr"/>
            <a:r>
              <a:rPr sz="1200" b="0">
                <a:solidFill>
                  <a:srgbClr val="E2E8F0"/>
                </a:solidFill>
                <a:latin typeface="Consolas"/>
              </a:rPr>
              <a:t>             track_id, ts, quality_score</a:t>
            </a:r>
          </a:p>
          <a:p>
            <a:pPr algn="ctr"/>
            <a:r>
              <a:rPr sz="1300" b="1">
                <a:solidFill>
                  <a:srgbClr val="22C55E"/>
                </a:solidFill>
                <a:latin typeface="Segoe UI"/>
              </a:rPr>
              <a:t>NO names. NO images. NO PII.</a:t>
            </a:r>
          </a:p>
          <a:p>
            <a:pPr algn="ctr"/>
            <a:r>
              <a:rPr sz="1300" b="1">
                <a:solidFill>
                  <a:srgbClr val="E2E8F0"/>
                </a:solidFill>
                <a:latin typeface="Segoe UI"/>
              </a:rPr>
              <a:t/>
            </a:r>
          </a:p>
          <a:p>
            <a:pPr algn="ctr"/>
            <a:r>
              <a:rPr sz="1300" b="0">
                <a:solidFill>
                  <a:srgbClr val="E2E8F0"/>
                </a:solidFill>
                <a:latin typeface="Segoe UI"/>
              </a:rPr>
              <a:t>Every search is FILTERED by:</a:t>
            </a:r>
          </a:p>
          <a:p>
            <a:pPr algn="ctr"/>
            <a:r>
              <a:rPr sz="1200" b="0">
                <a:solidFill>
                  <a:srgbClr val="E2E8F0"/>
                </a:solidFill>
                <a:latin typeface="Segoe UI"/>
              </a:rPr>
              <a:t>camera group · geographic zone · time range</a:t>
            </a:r>
          </a:p>
          <a:p>
            <a:pPr algn="ctr"/>
            <a:r>
              <a:rPr sz="1200" b="0">
                <a:solidFill>
                  <a:srgbClr val="E2E8F0"/>
                </a:solidFill>
                <a:latin typeface="Segoe UI"/>
              </a:rPr>
              <a:t>→ searches relevant partitions, not the whole index</a:t>
            </a:r>
          </a:p>
        </p:txBody>
      </p:sp>
      <p:sp>
        <p:nvSpPr>
          <p:cNvPr id="8" name="Rectangle 7"/>
          <p:cNvSpPr/>
          <p:nvPr/>
        </p:nvSpPr>
        <p:spPr>
          <a:xfrm>
            <a:off x="640080" y="4663440"/>
            <a:ext cx="10881360" cy="1234440"/>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2C55E"/>
                </a:solidFill>
                <a:latin typeface="Segoe UI"/>
              </a:rPr>
              <a:t>REFERENCE-EMBEDDING CACHE (Redis)</a:t>
            </a:r>
          </a:p>
          <a:p>
            <a:pPr algn="ctr"/>
            <a:r>
              <a:rPr sz="1300" b="0">
                <a:solidFill>
                  <a:srgbClr val="E2E8F0"/>
                </a:solidFill>
                <a:latin typeface="Segoe UI"/>
              </a:rPr>
              <a:t>Case created → embedding generated ONCE → cached → reused by ALL camera workers.</a:t>
            </a:r>
          </a:p>
          <a:p>
            <a:pPr algn="ctr"/>
            <a:r>
              <a:rPr sz="1200" b="0">
                <a:solidFill>
                  <a:srgbClr val="94A3B8"/>
                </a:solidFill>
                <a:latin typeface="Segoe UI"/>
              </a:rPr>
              <a:t>No per-camera re-processing of reference photos.</a:t>
            </a:r>
          </a:p>
        </p:txBody>
      </p:sp>
      <p:sp>
        <p:nvSpPr>
          <p:cNvPr id="9" name="TextBox 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Match Ranking &amp; Configurable Thresholds</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No universal 'match %' rule — thresholds tuned per model &amp; population</a:t>
            </a:r>
          </a:p>
        </p:txBody>
      </p:sp>
      <p:graphicFrame>
        <p:nvGraphicFramePr>
          <p:cNvPr id="6" name="Table 5"/>
          <p:cNvGraphicFramePr>
            <a:graphicFrameLocks noGrp="1"/>
          </p:cNvGraphicFramePr>
          <p:nvPr/>
        </p:nvGraphicFramePr>
        <p:xfrm>
          <a:off x="640080" y="1600200"/>
          <a:ext cx="6035039" cy="2743200"/>
        </p:xfrm>
        <a:graphic>
          <a:graphicData uri="http://schemas.openxmlformats.org/drawingml/2006/table">
            <a:tbl>
              <a:tblPr firstRow="1" bandRow="1">
                <a:tableStyleId>{5C22544A-7EE6-4342-B048-85BDC9FD1C3A}</a:tableStyleId>
              </a:tblPr>
              <a:tblGrid>
                <a:gridCol w="1724297"/>
                <a:gridCol w="1724297"/>
                <a:gridCol w="2586445"/>
              </a:tblGrid>
              <a:tr h="457200">
                <a:tc>
                  <a:txBody>
                    <a:bodyPr wrap="square"/>
                    <a:lstStyle/>
                    <a:p>
                      <a:pPr algn="l"/>
                      <a:r>
                        <a:rPr sz="1150" b="1">
                          <a:solidFill>
                            <a:srgbClr val="0B1220"/>
                          </a:solidFill>
                          <a:latin typeface="Segoe UI"/>
                        </a:rPr>
                        <a:t>Similarity range</a:t>
                      </a:r>
                    </a:p>
                  </a:txBody>
                  <a:tcPr marT="38100" marB="38100" marL="76200" marR="76200" anchor="ctr">
                    <a:solidFill>
                      <a:srgbClr val="38BDF8"/>
                    </a:solidFill>
                  </a:tcPr>
                </a:tc>
                <a:tc>
                  <a:txBody>
                    <a:bodyPr wrap="square"/>
                    <a:lstStyle/>
                    <a:p>
                      <a:pPr algn="l"/>
                      <a:r>
                        <a:rPr sz="1150" b="1">
                          <a:solidFill>
                            <a:srgbClr val="0B1220"/>
                          </a:solidFill>
                          <a:latin typeface="Segoe UI"/>
                        </a:rPr>
                        <a:t>Tier</a:t>
                      </a:r>
                    </a:p>
                  </a:txBody>
                  <a:tcPr marT="38100" marB="38100" marL="76200" marR="76200" anchor="ctr">
                    <a:solidFill>
                      <a:srgbClr val="38BDF8"/>
                    </a:solidFill>
                  </a:tcPr>
                </a:tc>
                <a:tc>
                  <a:txBody>
                    <a:bodyPr wrap="square"/>
                    <a:lstStyle/>
                    <a:p>
                      <a:pPr algn="l"/>
                      <a:r>
                        <a:rPr sz="1150" b="1">
                          <a:solidFill>
                            <a:srgbClr val="0B1220"/>
                          </a:solidFill>
                          <a:latin typeface="Segoe UI"/>
                        </a:rPr>
                        <a:t>Meaning</a:t>
                      </a:r>
                    </a:p>
                  </a:txBody>
                  <a:tcPr marT="38100" marB="38100" marL="76200" marR="76200" anchor="ctr">
                    <a:solidFill>
                      <a:srgbClr val="38BDF8"/>
                    </a:solidFill>
                  </a:tcPr>
                </a:tc>
              </a:tr>
              <a:tr h="457200">
                <a:tc>
                  <a:txBody>
                    <a:bodyPr wrap="square"/>
                    <a:lstStyle/>
                    <a:p>
                      <a:pPr algn="l"/>
                      <a:r>
                        <a:rPr sz="1150" b="0">
                          <a:solidFill>
                            <a:srgbClr val="E2E8F0"/>
                          </a:solidFill>
                          <a:latin typeface="Segoe UI"/>
                        </a:rPr>
                        <a:t>&lt; 0.55</a:t>
                      </a:r>
                    </a:p>
                  </a:txBody>
                  <a:tcPr marT="38100" marB="38100" marL="76200" marR="76200" anchor="ctr">
                    <a:solidFill>
                      <a:srgbClr val="111A2C"/>
                    </a:solidFill>
                  </a:tcPr>
                </a:tc>
                <a:tc>
                  <a:txBody>
                    <a:bodyPr wrap="square"/>
                    <a:lstStyle/>
                    <a:p>
                      <a:pPr algn="l"/>
                      <a:r>
                        <a:rPr sz="1150" b="0">
                          <a:solidFill>
                            <a:srgbClr val="E2E8F0"/>
                          </a:solidFill>
                          <a:latin typeface="Segoe UI"/>
                        </a:rPr>
                        <a:t>ignore</a:t>
                      </a:r>
                    </a:p>
                  </a:txBody>
                  <a:tcPr marT="38100" marB="38100" marL="76200" marR="76200" anchor="ctr">
                    <a:solidFill>
                      <a:srgbClr val="111A2C"/>
                    </a:solidFill>
                  </a:tcPr>
                </a:tc>
                <a:tc>
                  <a:txBody>
                    <a:bodyPr wrap="square"/>
                    <a:lstStyle/>
                    <a:p>
                      <a:pPr algn="l"/>
                      <a:r>
                        <a:rPr sz="1150" b="0">
                          <a:solidFill>
                            <a:srgbClr val="E2E8F0"/>
                          </a:solidFill>
                          <a:latin typeface="Segoe UI"/>
                        </a:rPr>
                        <a:t>discarded before ranking</a:t>
                      </a:r>
                    </a:p>
                  </a:txBody>
                  <a:tcPr marT="38100" marB="38100" marL="76200" marR="76200" anchor="ctr">
                    <a:solidFill>
                      <a:srgbClr val="111A2C"/>
                    </a:solidFill>
                  </a:tcPr>
                </a:tc>
              </a:tr>
              <a:tr h="457200">
                <a:tc>
                  <a:txBody>
                    <a:bodyPr wrap="square"/>
                    <a:lstStyle/>
                    <a:p>
                      <a:pPr algn="l"/>
                      <a:r>
                        <a:rPr sz="1150" b="0">
                          <a:solidFill>
                            <a:srgbClr val="E2E8F0"/>
                          </a:solidFill>
                          <a:latin typeface="Segoe UI"/>
                        </a:rPr>
                        <a:t>0.55 – 0.62</a:t>
                      </a:r>
                    </a:p>
                  </a:txBody>
                  <a:tcPr marT="38100" marB="38100" marL="76200" marR="76200" anchor="ctr">
                    <a:solidFill>
                      <a:srgbClr val="0E1627"/>
                    </a:solidFill>
                  </a:tcPr>
                </a:tc>
                <a:tc>
                  <a:txBody>
                    <a:bodyPr wrap="square"/>
                    <a:lstStyle/>
                    <a:p>
                      <a:pPr algn="l"/>
                      <a:r>
                        <a:rPr sz="1150" b="0">
                          <a:solidFill>
                            <a:srgbClr val="E2E8F0"/>
                          </a:solidFill>
                          <a:latin typeface="Segoe UI"/>
                        </a:rPr>
                        <a:t>low_confidence</a:t>
                      </a:r>
                    </a:p>
                  </a:txBody>
                  <a:tcPr marT="38100" marB="38100" marL="76200" marR="76200" anchor="ctr">
                    <a:solidFill>
                      <a:srgbClr val="0E1627"/>
                    </a:solidFill>
                  </a:tcPr>
                </a:tc>
                <a:tc>
                  <a:txBody>
                    <a:bodyPr wrap="square"/>
                    <a:lstStyle/>
                    <a:p>
                      <a:pPr algn="l"/>
                      <a:r>
                        <a:rPr sz="1150" b="0">
                          <a:solidFill>
                            <a:srgbClr val="E2E8F0"/>
                          </a:solidFill>
                          <a:latin typeface="Segoe UI"/>
                        </a:rPr>
                        <a:t>logged, low visibility</a:t>
                      </a:r>
                    </a:p>
                  </a:txBody>
                  <a:tcPr marT="38100" marB="38100" marL="76200" marR="76200" anchor="ctr">
                    <a:solidFill>
                      <a:srgbClr val="0E1627"/>
                    </a:solidFill>
                  </a:tcPr>
                </a:tc>
              </a:tr>
              <a:tr h="457200">
                <a:tc>
                  <a:txBody>
                    <a:bodyPr wrap="square"/>
                    <a:lstStyle/>
                    <a:p>
                      <a:pPr algn="l"/>
                      <a:r>
                        <a:rPr sz="1150" b="0">
                          <a:solidFill>
                            <a:srgbClr val="E2E8F0"/>
                          </a:solidFill>
                          <a:latin typeface="Segoe UI"/>
                        </a:rPr>
                        <a:t>0.62 – 0.70</a:t>
                      </a:r>
                    </a:p>
                  </a:txBody>
                  <a:tcPr marT="38100" marB="38100" marL="76200" marR="76200" anchor="ctr">
                    <a:solidFill>
                      <a:srgbClr val="111A2C"/>
                    </a:solidFill>
                  </a:tcPr>
                </a:tc>
                <a:tc>
                  <a:txBody>
                    <a:bodyPr wrap="square"/>
                    <a:lstStyle/>
                    <a:p>
                      <a:pPr algn="l"/>
                      <a:r>
                        <a:rPr sz="1150" b="0">
                          <a:solidFill>
                            <a:srgbClr val="E2E8F0"/>
                          </a:solidFill>
                          <a:latin typeface="Segoe UI"/>
                        </a:rPr>
                        <a:t>low_confidence</a:t>
                      </a:r>
                    </a:p>
                  </a:txBody>
                  <a:tcPr marT="38100" marB="38100" marL="76200" marR="76200" anchor="ctr">
                    <a:solidFill>
                      <a:srgbClr val="111A2C"/>
                    </a:solidFill>
                  </a:tcPr>
                </a:tc>
                <a:tc>
                  <a:txBody>
                    <a:bodyPr wrap="square"/>
                    <a:lstStyle/>
                    <a:p>
                      <a:pPr algn="l"/>
                      <a:r>
                        <a:rPr sz="1150" b="0">
                          <a:solidFill>
                            <a:srgbClr val="E2E8F0"/>
                          </a:solidFill>
                          <a:latin typeface="Segoe UI"/>
                        </a:rPr>
                        <a:t>candidate lead</a:t>
                      </a:r>
                    </a:p>
                  </a:txBody>
                  <a:tcPr marT="38100" marB="38100" marL="76200" marR="76200" anchor="ctr">
                    <a:solidFill>
                      <a:srgbClr val="111A2C"/>
                    </a:solidFill>
                  </a:tcPr>
                </a:tc>
              </a:tr>
              <a:tr h="457200">
                <a:tc>
                  <a:txBody>
                    <a:bodyPr wrap="square"/>
                    <a:lstStyle/>
                    <a:p>
                      <a:pPr algn="l"/>
                      <a:r>
                        <a:rPr sz="1150" b="0">
                          <a:solidFill>
                            <a:srgbClr val="E2E8F0"/>
                          </a:solidFill>
                          <a:latin typeface="Segoe UI"/>
                        </a:rPr>
                        <a:t>0.70 – 0.80</a:t>
                      </a:r>
                    </a:p>
                  </a:txBody>
                  <a:tcPr marT="38100" marB="38100" marL="76200" marR="76200" anchor="ctr">
                    <a:solidFill>
                      <a:srgbClr val="0E1627"/>
                    </a:solidFill>
                  </a:tcPr>
                </a:tc>
                <a:tc>
                  <a:txBody>
                    <a:bodyPr wrap="square"/>
                    <a:lstStyle/>
                    <a:p>
                      <a:pPr algn="l"/>
                      <a:r>
                        <a:rPr sz="1150" b="0">
                          <a:solidFill>
                            <a:srgbClr val="E2E8F0"/>
                          </a:solidFill>
                          <a:latin typeface="Segoe UI"/>
                        </a:rPr>
                        <a:t>potential</a:t>
                      </a:r>
                    </a:p>
                  </a:txBody>
                  <a:tcPr marT="38100" marB="38100" marL="76200" marR="76200" anchor="ctr">
                    <a:solidFill>
                      <a:srgbClr val="0E1627"/>
                    </a:solidFill>
                  </a:tcPr>
                </a:tc>
                <a:tc>
                  <a:txBody>
                    <a:bodyPr wrap="square"/>
                    <a:lstStyle/>
                    <a:p>
                      <a:pPr algn="l"/>
                      <a:r>
                        <a:rPr sz="1150" b="0">
                          <a:solidFill>
                            <a:srgbClr val="E2E8F0"/>
                          </a:solidFill>
                          <a:latin typeface="Segoe UI"/>
                        </a:rPr>
                        <a:t>Potential Match — review</a:t>
                      </a:r>
                    </a:p>
                  </a:txBody>
                  <a:tcPr marT="38100" marB="38100" marL="76200" marR="76200" anchor="ctr">
                    <a:solidFill>
                      <a:srgbClr val="0E1627"/>
                    </a:solidFill>
                  </a:tcPr>
                </a:tc>
              </a:tr>
              <a:tr h="457200">
                <a:tc>
                  <a:txBody>
                    <a:bodyPr wrap="square"/>
                    <a:lstStyle/>
                    <a:p>
                      <a:pPr algn="l"/>
                      <a:r>
                        <a:rPr sz="1150" b="0">
                          <a:solidFill>
                            <a:srgbClr val="E2E8F0"/>
                          </a:solidFill>
                          <a:latin typeface="Segoe UI"/>
                        </a:rPr>
                        <a:t>≥ 0.80</a:t>
                      </a:r>
                    </a:p>
                  </a:txBody>
                  <a:tcPr marT="38100" marB="38100" marL="76200" marR="76200" anchor="ctr">
                    <a:solidFill>
                      <a:srgbClr val="111A2C"/>
                    </a:solidFill>
                  </a:tcPr>
                </a:tc>
                <a:tc>
                  <a:txBody>
                    <a:bodyPr wrap="square"/>
                    <a:lstStyle/>
                    <a:p>
                      <a:pPr algn="l"/>
                      <a:r>
                        <a:rPr sz="1150" b="0">
                          <a:solidFill>
                            <a:srgbClr val="E2E8F0"/>
                          </a:solidFill>
                          <a:latin typeface="Segoe UI"/>
                        </a:rPr>
                        <a:t>high_priority</a:t>
                      </a:r>
                    </a:p>
                  </a:txBody>
                  <a:tcPr marT="38100" marB="38100" marL="76200" marR="76200" anchor="ctr">
                    <a:solidFill>
                      <a:srgbClr val="111A2C"/>
                    </a:solidFill>
                  </a:tcPr>
                </a:tc>
                <a:tc>
                  <a:txBody>
                    <a:bodyPr wrap="square"/>
                    <a:lstStyle/>
                    <a:p>
                      <a:pPr algn="l"/>
                      <a:r>
                        <a:rPr sz="1150" b="0">
                          <a:solidFill>
                            <a:srgbClr val="E2E8F0"/>
                          </a:solidFill>
                          <a:latin typeface="Segoe UI"/>
                        </a:rPr>
                        <a:t>urgent review queue</a:t>
                      </a:r>
                    </a:p>
                  </a:txBody>
                  <a:tcPr marT="38100" marB="38100" marL="76200" marR="76200" anchor="ctr">
                    <a:solidFill>
                      <a:srgbClr val="111A2C"/>
                    </a:solidFill>
                  </a:tcPr>
                </a:tc>
              </a:tr>
            </a:tbl>
          </a:graphicData>
        </a:graphic>
      </p:graphicFrame>
      <p:sp>
        <p:nvSpPr>
          <p:cNvPr id="7" name="Rectangle 6"/>
          <p:cNvSpPr/>
          <p:nvPr/>
        </p:nvSpPr>
        <p:spPr>
          <a:xfrm>
            <a:off x="7040880" y="1600200"/>
            <a:ext cx="4480560" cy="2743200"/>
          </a:xfrm>
          <a:prstGeom prst="rect">
            <a:avLst/>
          </a:prstGeom>
          <a:solidFill>
            <a:srgbClr val="111A2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9E0B"/>
                </a:solidFill>
                <a:latin typeface="Segoe UI"/>
              </a:rPr>
              <a:t>RANKING SIGNALS</a:t>
            </a:r>
          </a:p>
          <a:p>
            <a:pPr algn="ctr"/>
            <a:r>
              <a:rPr sz="1300" b="1">
                <a:solidFill>
                  <a:srgbClr val="E2E8F0"/>
                </a:solidFill>
                <a:latin typeface="Segoe UI"/>
              </a:rPr>
              <a:t/>
            </a:r>
          </a:p>
          <a:p>
            <a:pPr algn="ctr"/>
            <a:r>
              <a:rPr sz="1300" b="0">
                <a:solidFill>
                  <a:srgbClr val="E2E8F0"/>
                </a:solidFill>
                <a:latin typeface="Segoe UI"/>
              </a:rPr>
              <a:t>similarity  +  face quality  +</a:t>
            </a:r>
          </a:p>
          <a:p>
            <a:pPr algn="ctr"/>
            <a:r>
              <a:rPr sz="1300" b="0">
                <a:solidFill>
                  <a:srgbClr val="E2E8F0"/>
                </a:solidFill>
                <a:latin typeface="Segoe UI"/>
              </a:rPr>
              <a:t>track consistency  +  temporal logic  +</a:t>
            </a:r>
          </a:p>
          <a:p>
            <a:pPr algn="ctr"/>
            <a:r>
              <a:rPr sz="1300" b="0">
                <a:solidFill>
                  <a:srgbClr val="E2E8F0"/>
                </a:solidFill>
                <a:latin typeface="Segoe UI"/>
              </a:rPr>
              <a:t>camera reliability</a:t>
            </a:r>
          </a:p>
          <a:p>
            <a:pPr algn="ctr"/>
            <a:r>
              <a:rPr sz="1300" b="1">
                <a:solidFill>
                  <a:srgbClr val="E2E8F0"/>
                </a:solidFill>
                <a:latin typeface="Segoe UI"/>
              </a:rPr>
              <a:t/>
            </a:r>
          </a:p>
          <a:p>
            <a:pPr algn="ctr"/>
            <a:r>
              <a:rPr sz="1200" b="0">
                <a:solidFill>
                  <a:srgbClr val="E2E8F0"/>
                </a:solidFill>
                <a:latin typeface="Segoe UI"/>
              </a:rPr>
              <a:t>RULE: contextual signals may order results</a:t>
            </a:r>
          </a:p>
          <a:p>
            <a:pPr algn="ctr"/>
            <a:r>
              <a:rPr sz="1200" b="0">
                <a:solidFill>
                  <a:srgbClr val="E2E8F0"/>
                </a:solidFill>
                <a:latin typeface="Segoe UI"/>
              </a:rPr>
              <a:t>within a tier but can NEVER promote an</a:t>
            </a:r>
          </a:p>
          <a:p>
            <a:pPr algn="ctr"/>
            <a:r>
              <a:rPr sz="1200" b="0">
                <a:solidFill>
                  <a:srgbClr val="E2E8F0"/>
                </a:solidFill>
                <a:latin typeface="Segoe UI"/>
              </a:rPr>
              <a:t>inadequate biometric match to a higher tier.</a:t>
            </a:r>
          </a:p>
        </p:txBody>
      </p:sp>
      <p:sp>
        <p:nvSpPr>
          <p:cNvPr id="8" name="Rectangle 7"/>
          <p:cNvSpPr/>
          <p:nvPr/>
        </p:nvSpPr>
        <p:spPr>
          <a:xfrm>
            <a:off x="640080" y="4617720"/>
            <a:ext cx="10881360" cy="1371600"/>
          </a:xfrm>
          <a:prstGeom prst="rect">
            <a:avLst/>
          </a:prstGeom>
          <a:solidFill>
            <a:srgbClr val="111A2C"/>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EF4444"/>
                </a:solidFill>
                <a:latin typeface="Segoe UI"/>
              </a:rPr>
              <a:t>ALERT DEDUPLICATION — usable dashboard</a:t>
            </a:r>
          </a:p>
          <a:p>
            <a:pPr algn="ctr"/>
            <a:r>
              <a:rPr sz="1200" b="0">
                <a:solidFill>
                  <a:srgbClr val="E2E8F0"/>
                </a:solidFill>
                <a:latin typeface="Consolas"/>
              </a:rPr>
              <a:t>21:40:01 … 21:40:05 (50 consecutive frame hits on one person)</a:t>
            </a:r>
          </a:p>
          <a:p>
            <a:pPr algn="ctr"/>
            <a:r>
              <a:rPr sz="1300" b="0">
                <a:solidFill>
                  <a:srgbClr val="E2E8F0"/>
                </a:solidFill>
                <a:latin typeface="Segoe UI"/>
              </a:rPr>
              <a:t>collapses into ONE potential sighting: CAM-102 · 21:40:01–21:40:05 · best similarity</a:t>
            </a:r>
          </a:p>
        </p:txBody>
      </p:sp>
      <p:sp>
        <p:nvSpPr>
          <p:cNvPr id="9" name="TextBox 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Real-Time Live Search Flow</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'START LIVE SEARCH' activates the case against authorized camera groups</a:t>
            </a:r>
          </a:p>
        </p:txBody>
      </p:sp>
      <p:sp>
        <p:nvSpPr>
          <p:cNvPr id="6" name="Rounded Rectangle 5"/>
          <p:cNvSpPr/>
          <p:nvPr/>
        </p:nvSpPr>
        <p:spPr>
          <a:xfrm>
            <a:off x="685800" y="1554480"/>
            <a:ext cx="420624" cy="42062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1</a:t>
            </a:r>
          </a:p>
        </p:txBody>
      </p:sp>
      <p:sp>
        <p:nvSpPr>
          <p:cNvPr id="7" name="TextBox 6"/>
          <p:cNvSpPr txBox="1"/>
          <p:nvPr/>
        </p:nvSpPr>
        <p:spPr>
          <a:xfrm>
            <a:off x="1325880" y="1600200"/>
            <a:ext cx="10241280" cy="457200"/>
          </a:xfrm>
          <a:prstGeom prst="rect">
            <a:avLst/>
          </a:prstGeom>
          <a:noFill/>
        </p:spPr>
        <p:txBody>
          <a:bodyPr wrap="square" anchor="t">
            <a:spAutoFit/>
          </a:bodyPr>
          <a:lstStyle/>
          <a:p>
            <a:pPr algn="l"/>
            <a:r>
              <a:rPr sz="1400" b="1">
                <a:solidFill>
                  <a:srgbClr val="E2E8F0"/>
                </a:solidFill>
                <a:latin typeface="Segoe UI"/>
              </a:rPr>
              <a:t>Operator starts live search</a:t>
            </a:r>
          </a:p>
          <a:p>
            <a:pPr algn="l"/>
            <a:r>
              <a:rPr sz="1200" b="0">
                <a:solidFill>
                  <a:srgbClr val="94A3B8"/>
                </a:solidFill>
                <a:latin typeface="Segoe UI"/>
              </a:rPr>
              <a:t>   case flagged active · refs cached in Redis</a:t>
            </a:r>
          </a:p>
        </p:txBody>
      </p:sp>
      <p:sp>
        <p:nvSpPr>
          <p:cNvPr id="8" name="Rounded Rectangle 7"/>
          <p:cNvSpPr/>
          <p:nvPr/>
        </p:nvSpPr>
        <p:spPr>
          <a:xfrm>
            <a:off x="685800" y="2221992"/>
            <a:ext cx="420624" cy="42062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2</a:t>
            </a:r>
          </a:p>
        </p:txBody>
      </p:sp>
      <p:sp>
        <p:nvSpPr>
          <p:cNvPr id="9" name="TextBox 8"/>
          <p:cNvSpPr txBox="1"/>
          <p:nvPr/>
        </p:nvSpPr>
        <p:spPr>
          <a:xfrm>
            <a:off x="1325880" y="2267712"/>
            <a:ext cx="10241280" cy="457200"/>
          </a:xfrm>
          <a:prstGeom prst="rect">
            <a:avLst/>
          </a:prstGeom>
          <a:noFill/>
        </p:spPr>
        <p:txBody>
          <a:bodyPr wrap="square" anchor="t">
            <a:spAutoFit/>
          </a:bodyPr>
          <a:lstStyle/>
          <a:p>
            <a:pPr algn="l"/>
            <a:r>
              <a:rPr sz="1400" b="1">
                <a:solidFill>
                  <a:srgbClr val="E2E8F0"/>
                </a:solidFill>
                <a:latin typeface="Segoe UI"/>
              </a:rPr>
              <a:t>Pipeline workers poll active cases</a:t>
            </a:r>
          </a:p>
          <a:p>
            <a:pPr algn="l"/>
            <a:r>
              <a:rPr sz="1200" b="0">
                <a:solidFill>
                  <a:srgbClr val="94A3B8"/>
                </a:solidFill>
                <a:latin typeface="Segoe UI"/>
              </a:rPr>
              <a:t>   centralized search — not per-camera processes</a:t>
            </a:r>
          </a:p>
        </p:txBody>
      </p:sp>
      <p:sp>
        <p:nvSpPr>
          <p:cNvPr id="10" name="Rounded Rectangle 9"/>
          <p:cNvSpPr/>
          <p:nvPr/>
        </p:nvSpPr>
        <p:spPr>
          <a:xfrm>
            <a:off x="685800" y="2889504"/>
            <a:ext cx="420624" cy="42062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3</a:t>
            </a:r>
          </a:p>
        </p:txBody>
      </p:sp>
      <p:sp>
        <p:nvSpPr>
          <p:cNvPr id="11" name="TextBox 10"/>
          <p:cNvSpPr txBox="1"/>
          <p:nvPr/>
        </p:nvSpPr>
        <p:spPr>
          <a:xfrm>
            <a:off x="1325880" y="2935224"/>
            <a:ext cx="10241280" cy="457200"/>
          </a:xfrm>
          <a:prstGeom prst="rect">
            <a:avLst/>
          </a:prstGeom>
          <a:noFill/>
        </p:spPr>
        <p:txBody>
          <a:bodyPr wrap="square" anchor="t">
            <a:spAutoFit/>
          </a:bodyPr>
          <a:lstStyle/>
          <a:p>
            <a:pPr algn="l"/>
            <a:r>
              <a:rPr sz="1400" b="1">
                <a:solidFill>
                  <a:srgbClr val="E2E8F0"/>
                </a:solidFill>
                <a:latin typeface="Segoe UI"/>
              </a:rPr>
              <a:t>Frame → detect → track → quality</a:t>
            </a:r>
          </a:p>
          <a:p>
            <a:pPr algn="l"/>
            <a:r>
              <a:rPr sz="1200" b="0">
                <a:solidFill>
                  <a:srgbClr val="94A3B8"/>
                </a:solidFill>
                <a:latin typeface="Segoe UI"/>
              </a:rPr>
              <a:t>   cheap stages discard ~99% of data</a:t>
            </a:r>
          </a:p>
        </p:txBody>
      </p:sp>
      <p:sp>
        <p:nvSpPr>
          <p:cNvPr id="12" name="Rounded Rectangle 11"/>
          <p:cNvSpPr/>
          <p:nvPr/>
        </p:nvSpPr>
        <p:spPr>
          <a:xfrm>
            <a:off x="685800" y="3557016"/>
            <a:ext cx="420624" cy="42062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4</a:t>
            </a:r>
          </a:p>
        </p:txBody>
      </p:sp>
      <p:sp>
        <p:nvSpPr>
          <p:cNvPr id="13" name="TextBox 12"/>
          <p:cNvSpPr txBox="1"/>
          <p:nvPr/>
        </p:nvSpPr>
        <p:spPr>
          <a:xfrm>
            <a:off x="1325880" y="3602736"/>
            <a:ext cx="10241280" cy="457200"/>
          </a:xfrm>
          <a:prstGeom prst="rect">
            <a:avLst/>
          </a:prstGeom>
          <a:noFill/>
        </p:spPr>
        <p:txBody>
          <a:bodyPr wrap="square" anchor="t">
            <a:spAutoFit/>
          </a:bodyPr>
          <a:lstStyle/>
          <a:p>
            <a:pPr algn="l"/>
            <a:r>
              <a:rPr sz="1400" b="1">
                <a:solidFill>
                  <a:srgbClr val="E2E8F0"/>
                </a:solidFill>
                <a:latin typeface="Segoe UI"/>
              </a:rPr>
              <a:t>Best face embedded (micro-batch)</a:t>
            </a:r>
          </a:p>
          <a:p>
            <a:pPr algn="l"/>
            <a:r>
              <a:rPr sz="1200" b="0">
                <a:solidFill>
                  <a:srgbClr val="94A3B8"/>
                </a:solidFill>
                <a:latin typeface="Segoe UI"/>
              </a:rPr>
              <a:t>   one GPU call per ≤8 faces</a:t>
            </a:r>
          </a:p>
        </p:txBody>
      </p:sp>
      <p:sp>
        <p:nvSpPr>
          <p:cNvPr id="14" name="Rounded Rectangle 13"/>
          <p:cNvSpPr/>
          <p:nvPr/>
        </p:nvSpPr>
        <p:spPr>
          <a:xfrm>
            <a:off x="685800" y="4224528"/>
            <a:ext cx="420624" cy="42062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5</a:t>
            </a:r>
          </a:p>
        </p:txBody>
      </p:sp>
      <p:sp>
        <p:nvSpPr>
          <p:cNvPr id="15" name="TextBox 14"/>
          <p:cNvSpPr txBox="1"/>
          <p:nvPr/>
        </p:nvSpPr>
        <p:spPr>
          <a:xfrm>
            <a:off x="1325880" y="4270248"/>
            <a:ext cx="10241280" cy="457200"/>
          </a:xfrm>
          <a:prstGeom prst="rect">
            <a:avLst/>
          </a:prstGeom>
          <a:noFill/>
        </p:spPr>
        <p:txBody>
          <a:bodyPr wrap="square" anchor="t">
            <a:spAutoFit/>
          </a:bodyPr>
          <a:lstStyle/>
          <a:p>
            <a:pPr algn="l"/>
            <a:r>
              <a:rPr sz="1400" b="1">
                <a:solidFill>
                  <a:srgbClr val="E2E8F0"/>
                </a:solidFill>
                <a:latin typeface="Segoe UI"/>
              </a:rPr>
              <a:t>Cosine sim vs case templates</a:t>
            </a:r>
          </a:p>
          <a:p>
            <a:pPr algn="l"/>
            <a:r>
              <a:rPr sz="1200" b="0">
                <a:solidFill>
                  <a:srgbClr val="94A3B8"/>
                </a:solidFill>
                <a:latin typeface="Segoe UI"/>
              </a:rPr>
              <a:t>   multi-probe across reference photos</a:t>
            </a:r>
          </a:p>
        </p:txBody>
      </p:sp>
      <p:sp>
        <p:nvSpPr>
          <p:cNvPr id="16" name="Rounded Rectangle 15"/>
          <p:cNvSpPr/>
          <p:nvPr/>
        </p:nvSpPr>
        <p:spPr>
          <a:xfrm>
            <a:off x="685800" y="4892040"/>
            <a:ext cx="420624" cy="42062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6</a:t>
            </a:r>
          </a:p>
        </p:txBody>
      </p:sp>
      <p:sp>
        <p:nvSpPr>
          <p:cNvPr id="17" name="TextBox 16"/>
          <p:cNvSpPr txBox="1"/>
          <p:nvPr/>
        </p:nvSpPr>
        <p:spPr>
          <a:xfrm>
            <a:off x="1325880" y="4937760"/>
            <a:ext cx="10241280" cy="457200"/>
          </a:xfrm>
          <a:prstGeom prst="rect">
            <a:avLst/>
          </a:prstGeom>
          <a:noFill/>
        </p:spPr>
        <p:txBody>
          <a:bodyPr wrap="square" anchor="t">
            <a:spAutoFit/>
          </a:bodyPr>
          <a:lstStyle/>
          <a:p>
            <a:pPr algn="l"/>
            <a:r>
              <a:rPr sz="1400" b="1">
                <a:solidFill>
                  <a:srgbClr val="E2E8F0"/>
                </a:solidFill>
                <a:latin typeface="Segoe UI"/>
              </a:rPr>
              <a:t>Tier check + 30-min dedup window</a:t>
            </a:r>
          </a:p>
          <a:p>
            <a:pPr algn="l"/>
            <a:r>
              <a:rPr sz="1200" b="0">
                <a:solidFill>
                  <a:srgbClr val="94A3B8"/>
                </a:solidFill>
                <a:latin typeface="Segoe UI"/>
              </a:rPr>
              <a:t>   one alert per (case, camera, track)</a:t>
            </a:r>
          </a:p>
        </p:txBody>
      </p:sp>
      <p:sp>
        <p:nvSpPr>
          <p:cNvPr id="18" name="Rounded Rectangle 17"/>
          <p:cNvSpPr/>
          <p:nvPr/>
        </p:nvSpPr>
        <p:spPr>
          <a:xfrm>
            <a:off x="685800" y="5559552"/>
            <a:ext cx="420624" cy="420624"/>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1220"/>
                </a:solidFill>
                <a:latin typeface="Segoe UI"/>
              </a:rPr>
              <a:t>7</a:t>
            </a:r>
          </a:p>
        </p:txBody>
      </p:sp>
      <p:sp>
        <p:nvSpPr>
          <p:cNvPr id="19" name="TextBox 18"/>
          <p:cNvSpPr txBox="1"/>
          <p:nvPr/>
        </p:nvSpPr>
        <p:spPr>
          <a:xfrm>
            <a:off x="1325880" y="5605272"/>
            <a:ext cx="10241280" cy="457200"/>
          </a:xfrm>
          <a:prstGeom prst="rect">
            <a:avLst/>
          </a:prstGeom>
          <a:noFill/>
        </p:spPr>
        <p:txBody>
          <a:bodyPr wrap="square" anchor="t">
            <a:spAutoFit/>
          </a:bodyPr>
          <a:lstStyle/>
          <a:p>
            <a:pPr algn="l"/>
            <a:r>
              <a:rPr sz="1400" b="1">
                <a:solidFill>
                  <a:srgbClr val="E2E8F0"/>
                </a:solidFill>
                <a:latin typeface="Segoe UI"/>
              </a:rPr>
              <a:t>Event published → WebSocket</a:t>
            </a:r>
          </a:p>
          <a:p>
            <a:pPr algn="l"/>
            <a:r>
              <a:rPr sz="1200" b="0">
                <a:solidFill>
                  <a:srgbClr val="94A3B8"/>
                </a:solidFill>
                <a:latin typeface="Segoe UI"/>
              </a:rPr>
              <a:t>   dashboard toast within seconds of capture</a:t>
            </a:r>
          </a:p>
        </p:txBody>
      </p:sp>
      <p:sp>
        <p:nvSpPr>
          <p:cNvPr id="20" name="Rectangle 19"/>
          <p:cNvSpPr/>
          <p:nvPr/>
        </p:nvSpPr>
        <p:spPr>
          <a:xfrm>
            <a:off x="685800" y="5760720"/>
            <a:ext cx="10881360" cy="5029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B1220"/>
                </a:solidFill>
                <a:latin typeface="Segoe UI"/>
              </a:rPr>
              <a:t>Target end-to-end: capture → notification in well under a second (every stage measured: avg / P95 / P99)</a:t>
            </a:r>
          </a:p>
        </p:txBody>
      </p:sp>
      <p:sp>
        <p:nvSpPr>
          <p:cNvPr id="21" name="TextBox 20"/>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Human Verification &amp; Explainability</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The AI stops here. A human decides.</a:t>
            </a:r>
          </a:p>
        </p:txBody>
      </p:sp>
      <p:sp>
        <p:nvSpPr>
          <p:cNvPr id="6" name="Rectangle 5"/>
          <p:cNvSpPr/>
          <p:nvPr/>
        </p:nvSpPr>
        <p:spPr>
          <a:xfrm>
            <a:off x="640080" y="1554480"/>
            <a:ext cx="5852160" cy="3108960"/>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38BDF8"/>
                </a:solidFill>
                <a:latin typeface="Segoe UI"/>
              </a:rPr>
              <a:t>EVIDENCE REVIEW SCREEN</a:t>
            </a:r>
          </a:p>
          <a:p>
            <a:pPr algn="ctr"/>
            <a:r>
              <a:rPr sz="1300" b="1">
                <a:solidFill>
                  <a:srgbClr val="E2E8F0"/>
                </a:solidFill>
                <a:latin typeface="Segoe UI"/>
              </a:rPr>
              <a:t/>
            </a:r>
          </a:p>
          <a:p>
            <a:pPr algn="ctr"/>
            <a:r>
              <a:rPr sz="1300" b="0">
                <a:solidFill>
                  <a:srgbClr val="E2E8F0"/>
                </a:solidFill>
                <a:latin typeface="Segoe UI"/>
              </a:rPr>
              <a:t>Reference photo   vs   candidate crop   vs   original frame</a:t>
            </a:r>
          </a:p>
          <a:p>
            <a:pPr algn="ctr"/>
            <a:r>
              <a:rPr sz="1300" b="0">
                <a:solidFill>
                  <a:srgbClr val="E2E8F0"/>
                </a:solidFill>
                <a:latin typeface="Segoe UI"/>
              </a:rPr>
              <a:t>Camera · location · timestamp · track timeline</a:t>
            </a:r>
          </a:p>
          <a:p>
            <a:pPr algn="ctr"/>
            <a:r>
              <a:rPr sz="1300" b="1">
                <a:solidFill>
                  <a:srgbClr val="E2E8F0"/>
                </a:solidFill>
                <a:latin typeface="Segoe UI"/>
              </a:rPr>
              <a:t/>
            </a:r>
          </a:p>
          <a:p>
            <a:pPr algn="ctr"/>
            <a:r>
              <a:rPr sz="1200" b="0">
                <a:solidFill>
                  <a:srgbClr val="E2E8F0"/>
                </a:solidFill>
                <a:latin typeface="Consolas"/>
              </a:rPr>
              <a:t>[ CONFIRM SIGHTING ]   [ REJECT ]   [ NEEDS REVIEW ]</a:t>
            </a:r>
          </a:p>
          <a:p>
            <a:pPr algn="ctr"/>
            <a:r>
              <a:rPr sz="1200" b="0">
                <a:solidFill>
                  <a:srgbClr val="94A3B8"/>
                </a:solidFill>
                <a:latin typeface="Segoe UI"/>
              </a:rPr>
              <a:t>→ immutable review record + audit log entry</a:t>
            </a:r>
          </a:p>
        </p:txBody>
      </p:sp>
      <p:sp>
        <p:nvSpPr>
          <p:cNvPr id="7" name="Rectangle 6"/>
          <p:cNvSpPr/>
          <p:nvPr/>
        </p:nvSpPr>
        <p:spPr>
          <a:xfrm>
            <a:off x="6858000" y="1554480"/>
            <a:ext cx="4663440" cy="3108960"/>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2C55E"/>
                </a:solidFill>
                <a:latin typeface="Segoe UI"/>
              </a:rPr>
              <a:t>WHY WAS THIS SURFACED?</a:t>
            </a:r>
          </a:p>
          <a:p>
            <a:pPr algn="ctr"/>
            <a:r>
              <a:rPr sz="1300" b="1">
                <a:solidFill>
                  <a:srgbClr val="E2E8F0"/>
                </a:solidFill>
                <a:latin typeface="Segoe UI"/>
              </a:rPr>
              <a:t/>
            </a:r>
          </a:p>
          <a:p>
            <a:pPr algn="ctr"/>
            <a:r>
              <a:rPr sz="1300" b="0">
                <a:solidFill>
                  <a:srgbClr val="E2E8F0"/>
                </a:solidFill>
                <a:latin typeface="Consolas"/>
              </a:rPr>
              <a:t>Face similarity:      High</a:t>
            </a:r>
          </a:p>
          <a:p>
            <a:pPr algn="ctr"/>
            <a:r>
              <a:rPr sz="1300" b="0">
                <a:solidFill>
                  <a:srgbClr val="E2E8F0"/>
                </a:solidFill>
                <a:latin typeface="Consolas"/>
              </a:rPr>
              <a:t>Face quality:          Good</a:t>
            </a:r>
          </a:p>
          <a:p>
            <a:pPr algn="ctr"/>
            <a:r>
              <a:rPr sz="1300" b="0">
                <a:solidFill>
                  <a:srgbClr val="E2E8F0"/>
                </a:solidFill>
                <a:latin typeface="Consolas"/>
              </a:rPr>
              <a:t>Consistent obs:       4 observations</a:t>
            </a:r>
          </a:p>
          <a:p>
            <a:pPr algn="ctr"/>
            <a:r>
              <a:rPr sz="1300" b="0">
                <a:solidFill>
                  <a:srgbClr val="E2E8F0"/>
                </a:solidFill>
                <a:latin typeface="Consolas"/>
              </a:rPr>
              <a:t>Track duration:      6.2 seconds</a:t>
            </a:r>
          </a:p>
          <a:p>
            <a:pPr algn="ctr"/>
            <a:r>
              <a:rPr sz="1300" b="0">
                <a:solidFill>
                  <a:srgbClr val="E2E8F0"/>
                </a:solidFill>
                <a:latin typeface="Consolas"/>
              </a:rPr>
              <a:t>Camera / time:      CAM-203 · 21:42:15</a:t>
            </a:r>
          </a:p>
          <a:p>
            <a:pPr algn="ctr"/>
            <a:r>
              <a:rPr sz="1300" b="1">
                <a:solidFill>
                  <a:srgbClr val="E2E8F0"/>
                </a:solidFill>
                <a:latin typeface="Segoe UI"/>
              </a:rPr>
              <a:t/>
            </a:r>
          </a:p>
          <a:p>
            <a:pPr algn="ctr"/>
            <a:r>
              <a:rPr sz="1200" b="0">
                <a:solidFill>
                  <a:srgbClr val="E2E8F0"/>
                </a:solidFill>
                <a:latin typeface="Segoe UI"/>
              </a:rPr>
              <a:t>No unexplained single "98% accurate" number.</a:t>
            </a:r>
          </a:p>
        </p:txBody>
      </p:sp>
      <p:sp>
        <p:nvSpPr>
          <p:cNvPr id="8" name="Rectangle 7"/>
          <p:cNvSpPr/>
          <p:nvPr/>
        </p:nvSpPr>
        <p:spPr>
          <a:xfrm>
            <a:off x="640080" y="4892040"/>
            <a:ext cx="10881360"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220"/>
                </a:solidFill>
                <a:latin typeface="Segoe UI"/>
              </a:rPr>
              <a:t>Displayed everywhere:  “Potential Match — Human Verification Required”</a:t>
            </a:r>
          </a:p>
          <a:p>
            <a:pPr algn="ctr"/>
            <a:r>
              <a:rPr sz="1250" b="0">
                <a:solidFill>
                  <a:srgbClr val="0B1220"/>
                </a:solidFill>
                <a:latin typeface="Segoe UI"/>
              </a:rPr>
              <a:t>The phrase “Person Confirmed” can ONLY come from an authorized human reviewer — never from a similarity score.</a:t>
            </a:r>
          </a:p>
        </p:txBody>
      </p:sp>
      <p:sp>
        <p:nvSpPr>
          <p:cNvPr id="9" name="TextBox 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Privacy &amp; Security Controls</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Designed for lawful, auditable, minimal-data operation</a:t>
            </a:r>
          </a:p>
        </p:txBody>
      </p:sp>
      <p:sp>
        <p:nvSpPr>
          <p:cNvPr id="6" name="Rounded Rectangle 5"/>
          <p:cNvSpPr/>
          <p:nvPr/>
        </p:nvSpPr>
        <p:spPr>
          <a:xfrm>
            <a:off x="685800" y="1554480"/>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7" name="TextBox 6"/>
          <p:cNvSpPr txBox="1"/>
          <p:nvPr/>
        </p:nvSpPr>
        <p:spPr>
          <a:xfrm>
            <a:off x="1188720" y="1508760"/>
            <a:ext cx="10424160" cy="502920"/>
          </a:xfrm>
          <a:prstGeom prst="rect">
            <a:avLst/>
          </a:prstGeom>
          <a:noFill/>
        </p:spPr>
        <p:txBody>
          <a:bodyPr wrap="square" anchor="t">
            <a:spAutoFit/>
          </a:bodyPr>
          <a:lstStyle/>
          <a:p>
            <a:pPr algn="l"/>
            <a:r>
              <a:rPr sz="1350" b="1">
                <a:solidFill>
                  <a:srgbClr val="E2E8F0"/>
                </a:solidFill>
                <a:latin typeface="Segoe UI"/>
              </a:rPr>
              <a:t>Access control   </a:t>
            </a:r>
          </a:p>
          <a:p>
            <a:pPr algn="l"/>
            <a:r>
              <a:rPr sz="1250" b="0">
                <a:solidFill>
                  <a:srgbClr val="94A3B8"/>
                </a:solidFill>
                <a:latin typeface="Segoe UI"/>
              </a:rPr>
              <a:t>JWT + TOTP MFA · roles: admin/investigator/reviewer/auditor · case-scoped access</a:t>
            </a:r>
          </a:p>
        </p:txBody>
      </p:sp>
      <p:sp>
        <p:nvSpPr>
          <p:cNvPr id="8" name="Rounded Rectangle 7"/>
          <p:cNvSpPr/>
          <p:nvPr/>
        </p:nvSpPr>
        <p:spPr>
          <a:xfrm>
            <a:off x="685800" y="2130552"/>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9" name="TextBox 8"/>
          <p:cNvSpPr txBox="1"/>
          <p:nvPr/>
        </p:nvSpPr>
        <p:spPr>
          <a:xfrm>
            <a:off x="1188720" y="2084832"/>
            <a:ext cx="10424160" cy="502920"/>
          </a:xfrm>
          <a:prstGeom prst="rect">
            <a:avLst/>
          </a:prstGeom>
          <a:noFill/>
        </p:spPr>
        <p:txBody>
          <a:bodyPr wrap="square" anchor="t">
            <a:spAutoFit/>
          </a:bodyPr>
          <a:lstStyle/>
          <a:p>
            <a:pPr algn="l"/>
            <a:r>
              <a:rPr sz="1350" b="1">
                <a:solidFill>
                  <a:srgbClr val="E2E8F0"/>
                </a:solidFill>
                <a:latin typeface="Segoe UI"/>
              </a:rPr>
              <a:t>Audit logging   </a:t>
            </a:r>
          </a:p>
          <a:p>
            <a:pPr algn="l"/>
            <a:r>
              <a:rPr sz="1250" b="0">
                <a:solidFill>
                  <a:srgbClr val="94A3B8"/>
                </a:solidFill>
                <a:latin typeface="Segoe UI"/>
              </a:rPr>
              <a:t>immutable log of logins, uploads, EVERY search, reviews, deletions</a:t>
            </a:r>
          </a:p>
        </p:txBody>
      </p:sp>
      <p:sp>
        <p:nvSpPr>
          <p:cNvPr id="10" name="Rounded Rectangle 9"/>
          <p:cNvSpPr/>
          <p:nvPr/>
        </p:nvSpPr>
        <p:spPr>
          <a:xfrm>
            <a:off x="685800" y="2706624"/>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11" name="TextBox 10"/>
          <p:cNvSpPr txBox="1"/>
          <p:nvPr/>
        </p:nvSpPr>
        <p:spPr>
          <a:xfrm>
            <a:off x="1188720" y="2660904"/>
            <a:ext cx="10424160" cy="502920"/>
          </a:xfrm>
          <a:prstGeom prst="rect">
            <a:avLst/>
          </a:prstGeom>
          <a:noFill/>
        </p:spPr>
        <p:txBody>
          <a:bodyPr wrap="square" anchor="t">
            <a:spAutoFit/>
          </a:bodyPr>
          <a:lstStyle/>
          <a:p>
            <a:pPr algn="l"/>
            <a:r>
              <a:rPr sz="1350" b="1">
                <a:solidFill>
                  <a:srgbClr val="E2E8F0"/>
                </a:solidFill>
                <a:latin typeface="Segoe UI"/>
              </a:rPr>
              <a:t>PII separation   </a:t>
            </a:r>
          </a:p>
          <a:p>
            <a:pPr algn="l"/>
            <a:r>
              <a:rPr sz="1250" b="0">
                <a:solidFill>
                  <a:srgbClr val="94A3B8"/>
                </a:solidFill>
                <a:latin typeface="Segoe UI"/>
              </a:rPr>
              <a:t>vectors store IDs/scores only; identity data kept apart from biometrics</a:t>
            </a:r>
          </a:p>
        </p:txBody>
      </p:sp>
      <p:sp>
        <p:nvSpPr>
          <p:cNvPr id="12" name="Rounded Rectangle 11"/>
          <p:cNvSpPr/>
          <p:nvPr/>
        </p:nvSpPr>
        <p:spPr>
          <a:xfrm>
            <a:off x="685800" y="3282696"/>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13" name="TextBox 12"/>
          <p:cNvSpPr txBox="1"/>
          <p:nvPr/>
        </p:nvSpPr>
        <p:spPr>
          <a:xfrm>
            <a:off x="1188720" y="3236976"/>
            <a:ext cx="10424160" cy="502920"/>
          </a:xfrm>
          <a:prstGeom prst="rect">
            <a:avLst/>
          </a:prstGeom>
          <a:noFill/>
        </p:spPr>
        <p:txBody>
          <a:bodyPr wrap="square" anchor="t">
            <a:spAutoFit/>
          </a:bodyPr>
          <a:lstStyle/>
          <a:p>
            <a:pPr algn="l"/>
            <a:r>
              <a:rPr sz="1350" b="1">
                <a:solidFill>
                  <a:srgbClr val="E2E8F0"/>
                </a:solidFill>
                <a:latin typeface="Segoe UI"/>
              </a:rPr>
              <a:t>Encryption   </a:t>
            </a:r>
          </a:p>
          <a:p>
            <a:pPr algn="l"/>
            <a:r>
              <a:rPr sz="1250" b="0">
                <a:solidFill>
                  <a:srgbClr val="94A3B8"/>
                </a:solidFill>
                <a:latin typeface="Segoe UI"/>
              </a:rPr>
              <a:t>TLS in transit · encryption at rest · optional app-layer AES (Fernet) for templates</a:t>
            </a:r>
          </a:p>
        </p:txBody>
      </p:sp>
      <p:sp>
        <p:nvSpPr>
          <p:cNvPr id="14" name="Rounded Rectangle 13"/>
          <p:cNvSpPr/>
          <p:nvPr/>
        </p:nvSpPr>
        <p:spPr>
          <a:xfrm>
            <a:off x="685800" y="3858768"/>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15" name="TextBox 14"/>
          <p:cNvSpPr txBox="1"/>
          <p:nvPr/>
        </p:nvSpPr>
        <p:spPr>
          <a:xfrm>
            <a:off x="1188720" y="3813048"/>
            <a:ext cx="10424160" cy="502920"/>
          </a:xfrm>
          <a:prstGeom prst="rect">
            <a:avLst/>
          </a:prstGeom>
          <a:noFill/>
        </p:spPr>
        <p:txBody>
          <a:bodyPr wrap="square" anchor="t">
            <a:spAutoFit/>
          </a:bodyPr>
          <a:lstStyle/>
          <a:p>
            <a:pPr algn="l"/>
            <a:r>
              <a:rPr sz="1350" b="1">
                <a:solidFill>
                  <a:srgbClr val="E2E8F0"/>
                </a:solidFill>
                <a:latin typeface="Segoe UI"/>
              </a:rPr>
              <a:t>Retention   </a:t>
            </a:r>
          </a:p>
          <a:p>
            <a:pPr algn="l"/>
            <a:r>
              <a:rPr sz="1250" b="0">
                <a:solidFill>
                  <a:srgbClr val="94A3B8"/>
                </a:solidFill>
                <a:latin typeface="Segoe UI"/>
              </a:rPr>
              <a:t>per-camera policies · scheduled purge job · instant case disable · hard delete purges templates</a:t>
            </a:r>
          </a:p>
        </p:txBody>
      </p:sp>
      <p:sp>
        <p:nvSpPr>
          <p:cNvPr id="16" name="Rounded Rectangle 15"/>
          <p:cNvSpPr/>
          <p:nvPr/>
        </p:nvSpPr>
        <p:spPr>
          <a:xfrm>
            <a:off x="685800" y="4434840"/>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17" name="TextBox 16"/>
          <p:cNvSpPr txBox="1"/>
          <p:nvPr/>
        </p:nvSpPr>
        <p:spPr>
          <a:xfrm>
            <a:off x="1188720" y="4389120"/>
            <a:ext cx="10424160" cy="502920"/>
          </a:xfrm>
          <a:prstGeom prst="rect">
            <a:avLst/>
          </a:prstGeom>
          <a:noFill/>
        </p:spPr>
        <p:txBody>
          <a:bodyPr wrap="square" anchor="t">
            <a:spAutoFit/>
          </a:bodyPr>
          <a:lstStyle/>
          <a:p>
            <a:pPr algn="l"/>
            <a:r>
              <a:rPr sz="1350" b="1">
                <a:solidFill>
                  <a:srgbClr val="E2E8F0"/>
                </a:solidFill>
                <a:latin typeface="Segoe UI"/>
              </a:rPr>
              <a:t>Minimal data   </a:t>
            </a:r>
          </a:p>
          <a:p>
            <a:pPr algn="l"/>
            <a:r>
              <a:rPr sz="1250" b="0">
                <a:solidFill>
                  <a:srgbClr val="94A3B8"/>
                </a:solidFill>
                <a:latin typeface="Segoe UI"/>
              </a:rPr>
              <a:t>frames processed in memory; only evidence stored; RTSP creds write-only</a:t>
            </a:r>
          </a:p>
        </p:txBody>
      </p:sp>
      <p:sp>
        <p:nvSpPr>
          <p:cNvPr id="18" name="Rounded Rectangle 17"/>
          <p:cNvSpPr/>
          <p:nvPr/>
        </p:nvSpPr>
        <p:spPr>
          <a:xfrm>
            <a:off x="685800" y="5010912"/>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19" name="TextBox 18"/>
          <p:cNvSpPr txBox="1"/>
          <p:nvPr/>
        </p:nvSpPr>
        <p:spPr>
          <a:xfrm>
            <a:off x="1188720" y="4965192"/>
            <a:ext cx="10424160" cy="502920"/>
          </a:xfrm>
          <a:prstGeom prst="rect">
            <a:avLst/>
          </a:prstGeom>
          <a:noFill/>
        </p:spPr>
        <p:txBody>
          <a:bodyPr wrap="square" anchor="t">
            <a:spAutoFit/>
          </a:bodyPr>
          <a:lstStyle/>
          <a:p>
            <a:pPr algn="l"/>
            <a:r>
              <a:rPr sz="1350" b="1">
                <a:solidFill>
                  <a:srgbClr val="E2E8F0"/>
                </a:solidFill>
                <a:latin typeface="Segoe UI"/>
              </a:rPr>
              <a:t>Network   </a:t>
            </a:r>
          </a:p>
          <a:p>
            <a:pPr algn="l"/>
            <a:r>
              <a:rPr sz="1250" b="0">
                <a:solidFill>
                  <a:srgbClr val="94A3B8"/>
                </a:solidFill>
                <a:latin typeface="Segoe UI"/>
              </a:rPr>
              <a:t>embedding &amp; vector services internal-only · secrets via env/secret manager</a:t>
            </a:r>
          </a:p>
        </p:txBody>
      </p:sp>
      <p:sp>
        <p:nvSpPr>
          <p:cNvPr id="20" name="Rounded Rectangle 19"/>
          <p:cNvSpPr/>
          <p:nvPr/>
        </p:nvSpPr>
        <p:spPr>
          <a:xfrm>
            <a:off x="685800" y="5586984"/>
            <a:ext cx="310896" cy="310896"/>
          </a:xfrm>
          <a:prstGeom prst="round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1220"/>
                </a:solidFill>
                <a:latin typeface="Segoe UI"/>
              </a:rPr>
              <a:t>✓</a:t>
            </a:r>
          </a:p>
        </p:txBody>
      </p:sp>
      <p:sp>
        <p:nvSpPr>
          <p:cNvPr id="21" name="TextBox 20"/>
          <p:cNvSpPr txBox="1"/>
          <p:nvPr/>
        </p:nvSpPr>
        <p:spPr>
          <a:xfrm>
            <a:off x="1188720" y="5541264"/>
            <a:ext cx="10424160" cy="502920"/>
          </a:xfrm>
          <a:prstGeom prst="rect">
            <a:avLst/>
          </a:prstGeom>
          <a:noFill/>
        </p:spPr>
        <p:txBody>
          <a:bodyPr wrap="square" anchor="t">
            <a:spAutoFit/>
          </a:bodyPr>
          <a:lstStyle/>
          <a:p>
            <a:pPr algn="l"/>
            <a:r>
              <a:rPr sz="1350" b="1">
                <a:solidFill>
                  <a:srgbClr val="E2E8F0"/>
                </a:solidFill>
                <a:latin typeface="Segoe UI"/>
              </a:rPr>
              <a:t>Prohibited use   </a:t>
            </a:r>
          </a:p>
          <a:p>
            <a:pPr algn="l"/>
            <a:r>
              <a:rPr sz="1250" b="0">
                <a:solidFill>
                  <a:srgbClr val="94A3B8"/>
                </a:solidFill>
                <a:latin typeface="Segoe UI"/>
              </a:rPr>
              <a:t>no automated enforcement action may ever be connected to AI matches</a:t>
            </a:r>
          </a:p>
        </p:txBody>
      </p:sp>
      <p:sp>
        <p:nvSpPr>
          <p:cNvPr id="22" name="TextBox 21"/>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Technology Stack</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Production-grade, containerized, horizontally scalable</a:t>
            </a:r>
          </a:p>
        </p:txBody>
      </p:sp>
      <p:graphicFrame>
        <p:nvGraphicFramePr>
          <p:cNvPr id="6" name="Table 5"/>
          <p:cNvGraphicFramePr>
            <a:graphicFrameLocks noGrp="1"/>
          </p:cNvGraphicFramePr>
          <p:nvPr/>
        </p:nvGraphicFramePr>
        <p:xfrm>
          <a:off x="640080" y="1554480"/>
          <a:ext cx="10881360" cy="4023360"/>
        </p:xfrm>
        <a:graphic>
          <a:graphicData uri="http://schemas.openxmlformats.org/drawingml/2006/table">
            <a:tbl>
              <a:tblPr firstRow="1" bandRow="1">
                <a:tableStyleId>{5C22544A-7EE6-4342-B048-85BDC9FD1C3A}</a:tableStyleId>
              </a:tblPr>
              <a:tblGrid>
                <a:gridCol w="2176272"/>
                <a:gridCol w="8705088"/>
              </a:tblGrid>
              <a:tr h="502920">
                <a:tc>
                  <a:txBody>
                    <a:bodyPr wrap="square"/>
                    <a:lstStyle/>
                    <a:p>
                      <a:pPr algn="l"/>
                      <a:r>
                        <a:rPr sz="1150" b="1">
                          <a:solidFill>
                            <a:srgbClr val="0B1220"/>
                          </a:solidFill>
                          <a:latin typeface="Segoe UI"/>
                        </a:rPr>
                        <a:t>Layer</a:t>
                      </a:r>
                    </a:p>
                  </a:txBody>
                  <a:tcPr marT="38100" marB="38100" marL="76200" marR="76200" anchor="ctr">
                    <a:solidFill>
                      <a:srgbClr val="38BDF8"/>
                    </a:solidFill>
                  </a:tcPr>
                </a:tc>
                <a:tc>
                  <a:txBody>
                    <a:bodyPr wrap="square"/>
                    <a:lstStyle/>
                    <a:p>
                      <a:pPr algn="l"/>
                      <a:r>
                        <a:rPr sz="1150" b="1">
                          <a:solidFill>
                            <a:srgbClr val="0B1220"/>
                          </a:solidFill>
                          <a:latin typeface="Segoe UI"/>
                        </a:rPr>
                        <a:t>Technologies</a:t>
                      </a:r>
                    </a:p>
                  </a:txBody>
                  <a:tcPr marT="38100" marB="38100" marL="76200" marR="76200" anchor="ctr">
                    <a:solidFill>
                      <a:srgbClr val="38BDF8"/>
                    </a:solidFill>
                  </a:tcPr>
                </a:tc>
              </a:tr>
              <a:tr h="502920">
                <a:tc>
                  <a:txBody>
                    <a:bodyPr wrap="square"/>
                    <a:lstStyle/>
                    <a:p>
                      <a:pPr algn="l"/>
                      <a:r>
                        <a:rPr sz="1150" b="0">
                          <a:solidFill>
                            <a:srgbClr val="E2E8F0"/>
                          </a:solidFill>
                          <a:latin typeface="Segoe UI"/>
                        </a:rPr>
                        <a:t>Frontend</a:t>
                      </a:r>
                    </a:p>
                  </a:txBody>
                  <a:tcPr marT="38100" marB="38100" marL="76200" marR="76200" anchor="ctr">
                    <a:solidFill>
                      <a:srgbClr val="111A2C"/>
                    </a:solidFill>
                  </a:tcPr>
                </a:tc>
                <a:tc>
                  <a:txBody>
                    <a:bodyPr wrap="square"/>
                    <a:lstStyle/>
                    <a:p>
                      <a:pPr algn="l"/>
                      <a:r>
                        <a:rPr sz="1150" b="0">
                          <a:solidFill>
                            <a:srgbClr val="E2E8F0"/>
                          </a:solidFill>
                          <a:latin typeface="Segoe UI"/>
                        </a:rPr>
                        <a:t>React 18 · TypeScript · Vite · TailwindCSS · WebSocket · MapLibre GL · Recharts</a:t>
                      </a:r>
                    </a:p>
                  </a:txBody>
                  <a:tcPr marT="38100" marB="38100" marL="76200" marR="76200" anchor="ctr">
                    <a:solidFill>
                      <a:srgbClr val="111A2C"/>
                    </a:solidFill>
                  </a:tcPr>
                </a:tc>
              </a:tr>
              <a:tr h="502920">
                <a:tc>
                  <a:txBody>
                    <a:bodyPr wrap="square"/>
                    <a:lstStyle/>
                    <a:p>
                      <a:pPr algn="l"/>
                      <a:r>
                        <a:rPr sz="1150" b="0">
                          <a:solidFill>
                            <a:srgbClr val="E2E8F0"/>
                          </a:solidFill>
                          <a:latin typeface="Segoe UI"/>
                        </a:rPr>
                        <a:t>API Gateway</a:t>
                      </a:r>
                    </a:p>
                  </a:txBody>
                  <a:tcPr marT="38100" marB="38100" marL="76200" marR="76200" anchor="ctr">
                    <a:solidFill>
                      <a:srgbClr val="0E1627"/>
                    </a:solidFill>
                  </a:tcPr>
                </a:tc>
                <a:tc>
                  <a:txBody>
                    <a:bodyPr wrap="square"/>
                    <a:lstStyle/>
                    <a:p>
                      <a:pPr algn="l"/>
                      <a:r>
                        <a:rPr sz="1150" b="0">
                          <a:solidFill>
                            <a:srgbClr val="E2E8F0"/>
                          </a:solidFill>
                          <a:latin typeface="Segoe UI"/>
                        </a:rPr>
                        <a:t>Python · FastAPI · Pydantic v2 · AsyncIO · JWT · TOTP MFA · asyncpg</a:t>
                      </a:r>
                    </a:p>
                  </a:txBody>
                  <a:tcPr marT="38100" marB="38100" marL="76200" marR="76200" anchor="ctr">
                    <a:solidFill>
                      <a:srgbClr val="0E1627"/>
                    </a:solidFill>
                  </a:tcPr>
                </a:tc>
              </a:tr>
              <a:tr h="502920">
                <a:tc>
                  <a:txBody>
                    <a:bodyPr wrap="square"/>
                    <a:lstStyle/>
                    <a:p>
                      <a:pPr algn="l"/>
                      <a:r>
                        <a:rPr sz="1150" b="0">
                          <a:solidFill>
                            <a:srgbClr val="E2E8F0"/>
                          </a:solidFill>
                          <a:latin typeface="Segoe UI"/>
                        </a:rPr>
                        <a:t>Vision / AI</a:t>
                      </a:r>
                    </a:p>
                  </a:txBody>
                  <a:tcPr marT="38100" marB="38100" marL="76200" marR="76200" anchor="ctr">
                    <a:solidFill>
                      <a:srgbClr val="111A2C"/>
                    </a:solidFill>
                  </a:tcPr>
                </a:tc>
                <a:tc>
                  <a:txBody>
                    <a:bodyPr wrap="square"/>
                    <a:lstStyle/>
                    <a:p>
                      <a:pPr algn="l"/>
                      <a:r>
                        <a:rPr sz="1150" b="0">
                          <a:solidFill>
                            <a:srgbClr val="E2E8F0"/>
                          </a:solidFill>
                          <a:latin typeface="Segoe UI"/>
                        </a:rPr>
                        <a:t>OpenCV · ONNX Runtime (CUDA/TensorRT-ready) · YOLO person det · SCRFD face det · ArcFace embeddings</a:t>
                      </a:r>
                    </a:p>
                  </a:txBody>
                  <a:tcPr marT="38100" marB="38100" marL="76200" marR="76200" anchor="ctr">
                    <a:solidFill>
                      <a:srgbClr val="111A2C"/>
                    </a:solidFill>
                  </a:tcPr>
                </a:tc>
              </a:tr>
              <a:tr h="502920">
                <a:tc>
                  <a:txBody>
                    <a:bodyPr wrap="square"/>
                    <a:lstStyle/>
                    <a:p>
                      <a:pPr algn="l"/>
                      <a:r>
                        <a:rPr sz="1150" b="0">
                          <a:solidFill>
                            <a:srgbClr val="E2E8F0"/>
                          </a:solidFill>
                          <a:latin typeface="Segoe UI"/>
                        </a:rPr>
                        <a:t>Streaming</a:t>
                      </a:r>
                    </a:p>
                  </a:txBody>
                  <a:tcPr marT="38100" marB="38100" marL="76200" marR="76200" anchor="ctr">
                    <a:solidFill>
                      <a:srgbClr val="0E1627"/>
                    </a:solidFill>
                  </a:tcPr>
                </a:tc>
                <a:tc>
                  <a:txBody>
                    <a:bodyPr wrap="square"/>
                    <a:lstStyle/>
                    <a:p>
                      <a:pPr algn="l"/>
                      <a:r>
                        <a:rPr sz="1150" b="0">
                          <a:solidFill>
                            <a:srgbClr val="E2E8F0"/>
                          </a:solidFill>
                          <a:latin typeface="Segoe UI"/>
                        </a:rPr>
                        <a:t>RTSP via FFmpeg/GStreamer · custom MOT tracker (ByteTrack semantics)</a:t>
                      </a:r>
                    </a:p>
                  </a:txBody>
                  <a:tcPr marT="38100" marB="38100" marL="76200" marR="76200" anchor="ctr">
                    <a:solidFill>
                      <a:srgbClr val="0E1627"/>
                    </a:solidFill>
                  </a:tcPr>
                </a:tc>
              </a:tr>
              <a:tr h="502920">
                <a:tc>
                  <a:txBody>
                    <a:bodyPr wrap="square"/>
                    <a:lstStyle/>
                    <a:p>
                      <a:pPr algn="l"/>
                      <a:r>
                        <a:rPr sz="1150" b="0">
                          <a:solidFill>
                            <a:srgbClr val="E2E8F0"/>
                          </a:solidFill>
                          <a:latin typeface="Segoe UI"/>
                        </a:rPr>
                        <a:t>Data</a:t>
                      </a:r>
                    </a:p>
                  </a:txBody>
                  <a:tcPr marT="38100" marB="38100" marL="76200" marR="76200" anchor="ctr">
                    <a:solidFill>
                      <a:srgbClr val="111A2C"/>
                    </a:solidFill>
                  </a:tcPr>
                </a:tc>
                <a:tc>
                  <a:txBody>
                    <a:bodyPr wrap="square"/>
                    <a:lstStyle/>
                    <a:p>
                      <a:pPr algn="l"/>
                      <a:r>
                        <a:rPr sz="1150" b="0">
                          <a:solidFill>
                            <a:srgbClr val="E2E8F0"/>
                          </a:solidFill>
                          <a:latin typeface="Segoe UI"/>
                        </a:rPr>
                        <a:t>PostgreSQL (partitioned time-series) · Redis (cache/events/dedup) · Qdrant vectors · object storage</a:t>
                      </a:r>
                    </a:p>
                  </a:txBody>
                  <a:tcPr marT="38100" marB="38100" marL="76200" marR="76200" anchor="ctr">
                    <a:solidFill>
                      <a:srgbClr val="111A2C"/>
                    </a:solidFill>
                  </a:tcPr>
                </a:tc>
              </a:tr>
              <a:tr h="502920">
                <a:tc>
                  <a:txBody>
                    <a:bodyPr wrap="square"/>
                    <a:lstStyle/>
                    <a:p>
                      <a:pPr algn="l"/>
                      <a:r>
                        <a:rPr sz="1150" b="0">
                          <a:solidFill>
                            <a:srgbClr val="E2E8F0"/>
                          </a:solidFill>
                          <a:latin typeface="Segoe UI"/>
                        </a:rPr>
                        <a:t>Ops</a:t>
                      </a:r>
                    </a:p>
                  </a:txBody>
                  <a:tcPr marT="38100" marB="38100" marL="76200" marR="76200" anchor="ctr">
                    <a:solidFill>
                      <a:srgbClr val="0E1627"/>
                    </a:solidFill>
                  </a:tcPr>
                </a:tc>
                <a:tc>
                  <a:txBody>
                    <a:bodyPr wrap="square"/>
                    <a:lstStyle/>
                    <a:p>
                      <a:pPr algn="l"/>
                      <a:r>
                        <a:rPr sz="1150" b="0">
                          <a:solidFill>
                            <a:srgbClr val="E2E8F0"/>
                          </a:solidFill>
                          <a:latin typeface="Segoe UI"/>
                        </a:rPr>
                        <a:t>Docker Compose → Kubernetes · Prometheus · Grafana · OpenTelemetry-ready</a:t>
                      </a:r>
                    </a:p>
                  </a:txBody>
                  <a:tcPr marT="38100" marB="38100" marL="76200" marR="76200" anchor="ctr">
                    <a:solidFill>
                      <a:srgbClr val="0E1627"/>
                    </a:solidFill>
                  </a:tcPr>
                </a:tc>
              </a:tr>
              <a:tr h="502920">
                <a:tc>
                  <a:txBody>
                    <a:bodyPr wrap="square"/>
                    <a:lstStyle/>
                    <a:p>
                      <a:pPr algn="l"/>
                      <a:r>
                        <a:rPr sz="1150" b="0">
                          <a:solidFill>
                            <a:srgbClr val="E2E8F0"/>
                          </a:solidFill>
                          <a:latin typeface="Segoe UI"/>
                        </a:rPr>
                        <a:t>Modes</a:t>
                      </a:r>
                    </a:p>
                  </a:txBody>
                  <a:tcPr marT="38100" marB="38100" marL="76200" marR="76200" anchor="ctr">
                    <a:solidFill>
                      <a:srgbClr val="111A2C"/>
                    </a:solidFill>
                  </a:tcPr>
                </a:tc>
                <a:tc>
                  <a:txBody>
                    <a:bodyPr wrap="square"/>
                    <a:lstStyle/>
                    <a:p>
                      <a:pPr algn="l"/>
                      <a:r>
                        <a:rPr sz="1150" b="0">
                          <a:solidFill>
                            <a:srgbClr val="E2E8F0"/>
                          </a:solidFill>
                          <a:latin typeface="Segoe UI"/>
                        </a:rPr>
                        <a:t>REAL_CAMERA_MODE + SIMULATION_MODE (synthetic, zero real PII)</a:t>
                      </a:r>
                    </a:p>
                  </a:txBody>
                  <a:tcPr marT="38100" marB="38100" marL="76200" marR="76200" anchor="ctr">
                    <a:solidFill>
                      <a:srgbClr val="111A2C"/>
                    </a:solidFill>
                  </a:tcPr>
                </a:tc>
              </a:tr>
            </a:tbl>
          </a:graphicData>
        </a:graphic>
      </p:graphicFrame>
      <p:sp>
        <p:nvSpPr>
          <p:cNvPr id="7" name="TextBox 6"/>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Testing &amp; Performance Engineering</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Measured, not claimed</a:t>
            </a:r>
          </a:p>
        </p:txBody>
      </p:sp>
      <p:sp>
        <p:nvSpPr>
          <p:cNvPr id="6" name="Rectangle 5"/>
          <p:cNvSpPr/>
          <p:nvPr/>
        </p:nvSpPr>
        <p:spPr>
          <a:xfrm>
            <a:off x="640080" y="1554480"/>
            <a:ext cx="5394960" cy="3017520"/>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38BDF8"/>
                </a:solidFill>
                <a:latin typeface="Segoe UI"/>
              </a:rPr>
              <a:t>TEST PYRAMID</a:t>
            </a:r>
          </a:p>
          <a:p>
            <a:pPr algn="ctr"/>
            <a:r>
              <a:rPr sz="1300" b="1">
                <a:solidFill>
                  <a:srgbClr val="E2E8F0"/>
                </a:solidFill>
                <a:latin typeface="Segoe UI"/>
              </a:rPr>
              <a:t/>
            </a:r>
          </a:p>
          <a:p>
            <a:pPr algn="ctr"/>
            <a:r>
              <a:rPr sz="1300" b="0">
                <a:solidFill>
                  <a:srgbClr val="E2E8F0"/>
                </a:solidFill>
                <a:latin typeface="Segoe UI"/>
              </a:rPr>
              <a:t>Unit — auth, tracking, ranking tiers,</a:t>
            </a:r>
          </a:p>
          <a:p>
            <a:pPr algn="ctr"/>
            <a:r>
              <a:rPr sz="1300" b="0">
                <a:solidFill>
                  <a:srgbClr val="E2E8F0"/>
                </a:solidFill>
                <a:latin typeface="Segoe UI"/>
              </a:rPr>
              <a:t>quality gates, alert dedup</a:t>
            </a:r>
          </a:p>
          <a:p>
            <a:pPr algn="ctr"/>
            <a:r>
              <a:rPr sz="1300" b="0">
                <a:solidFill>
                  <a:srgbClr val="E2E8F0"/>
                </a:solidFill>
                <a:latin typeface="Segoe UI"/>
              </a:rPr>
              <a:t>Integration — frame → detect → track →</a:t>
            </a:r>
          </a:p>
          <a:p>
            <a:pPr algn="ctr"/>
            <a:r>
              <a:rPr sz="1300" b="0">
                <a:solidFill>
                  <a:srgbClr val="E2E8F0"/>
                </a:solidFill>
                <a:latin typeface="Segoe UI"/>
              </a:rPr>
              <a:t>embed → vector self-retrieval</a:t>
            </a:r>
          </a:p>
          <a:p>
            <a:pPr algn="ctr"/>
            <a:r>
              <a:rPr sz="1300" b="0">
                <a:solidFill>
                  <a:srgbClr val="E2E8F0"/>
                </a:solidFill>
                <a:latin typeface="Segoe UI"/>
              </a:rPr>
              <a:t>Load — simulate 100–10,000 cameras</a:t>
            </a:r>
          </a:p>
          <a:p>
            <a:pPr algn="ctr"/>
            <a:r>
              <a:rPr sz="1300" b="0">
                <a:solidFill>
                  <a:srgbClr val="E2E8F0"/>
                </a:solidFill>
                <a:latin typeface="Segoe UI"/>
              </a:rPr>
              <a:t>Failure — GPU/camera/DB/network loss</a:t>
            </a:r>
          </a:p>
        </p:txBody>
      </p:sp>
      <p:sp>
        <p:nvSpPr>
          <p:cNvPr id="7" name="Rectangle 6"/>
          <p:cNvSpPr/>
          <p:nvPr/>
        </p:nvSpPr>
        <p:spPr>
          <a:xfrm>
            <a:off x="6400800" y="1554480"/>
            <a:ext cx="5120640" cy="3017520"/>
          </a:xfrm>
          <a:prstGeom prst="rect">
            <a:avLst/>
          </a:prstGeom>
          <a:solidFill>
            <a:srgbClr val="111A2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59E0B"/>
                </a:solidFill>
                <a:latin typeface="Segoe UI"/>
              </a:rPr>
              <a:t>MEASURED METRICS (per stage)</a:t>
            </a:r>
          </a:p>
          <a:p>
            <a:pPr algn="ctr"/>
            <a:r>
              <a:rPr sz="1300" b="1">
                <a:solidFill>
                  <a:srgbClr val="E2E8F0"/>
                </a:solidFill>
                <a:latin typeface="Segoe UI"/>
              </a:rPr>
              <a:t/>
            </a:r>
          </a:p>
          <a:p>
            <a:pPr algn="ctr"/>
            <a:r>
              <a:rPr sz="1200" b="0">
                <a:solidFill>
                  <a:srgbClr val="E2E8F0"/>
                </a:solidFill>
                <a:latin typeface="Consolas"/>
              </a:rPr>
              <a:t>capture · decode · detection · tracking ·</a:t>
            </a:r>
          </a:p>
          <a:p>
            <a:pPr algn="ctr"/>
            <a:r>
              <a:rPr sz="1200" b="0">
                <a:solidFill>
                  <a:srgbClr val="E2E8F0"/>
                </a:solidFill>
                <a:latin typeface="Consolas"/>
              </a:rPr>
              <a:t>face_quality · embedding · vector_search ·</a:t>
            </a:r>
          </a:p>
          <a:p>
            <a:pPr algn="ctr"/>
            <a:r>
              <a:rPr sz="1200" b="0">
                <a:solidFill>
                  <a:srgbClr val="E2E8F0"/>
                </a:solidFill>
                <a:latin typeface="Consolas"/>
              </a:rPr>
              <a:t>ranking · notification</a:t>
            </a:r>
          </a:p>
          <a:p>
            <a:pPr algn="ctr"/>
            <a:r>
              <a:rPr sz="1300" b="1">
                <a:solidFill>
                  <a:srgbClr val="E2E8F0"/>
                </a:solidFill>
                <a:latin typeface="Segoe UI"/>
              </a:rPr>
              <a:t/>
            </a:r>
          </a:p>
          <a:p>
            <a:pPr algn="ctr"/>
            <a:r>
              <a:rPr sz="1250" b="0">
                <a:solidFill>
                  <a:srgbClr val="E2E8F0"/>
                </a:solidFill>
                <a:latin typeface="Segoe UI"/>
              </a:rPr>
              <a:t>reported as avg / P95 / P99 → Prometheus + Grafana;</a:t>
            </a:r>
          </a:p>
          <a:p>
            <a:pPr algn="ctr"/>
            <a:r>
              <a:rPr sz="1250" b="0">
                <a:solidFill>
                  <a:srgbClr val="E2E8F0"/>
                </a:solidFill>
                <a:latin typeface="Segoe UI"/>
              </a:rPr>
              <a:t>“real-time” is proven by numbers, not by UI smoothness</a:t>
            </a:r>
          </a:p>
        </p:txBody>
      </p:sp>
      <p:sp>
        <p:nvSpPr>
          <p:cNvPr id="8" name="Rectangle 7"/>
          <p:cNvSpPr/>
          <p:nvPr/>
        </p:nvSpPr>
        <p:spPr>
          <a:xfrm>
            <a:off x="640080" y="4846320"/>
            <a:ext cx="10881360" cy="1097280"/>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22C55E"/>
                </a:solidFill>
                <a:latin typeface="Segoe UI"/>
              </a:rPr>
              <a:t>BACKPRESSURE &amp; PRIORITIZATION</a:t>
            </a:r>
          </a:p>
          <a:p>
            <a:pPr algn="ctr"/>
            <a:r>
              <a:rPr sz="1300" b="0">
                <a:solidFill>
                  <a:srgbClr val="E2E8F0"/>
                </a:solidFill>
                <a:latin typeface="Segoe UI"/>
              </a:rPr>
              <a:t>bounded queues · stale frames expire · investigation-priority cameras (P1 railway &gt; P4 other) win GPU capacity during shortages — freshness beats completeness.</a:t>
            </a:r>
          </a:p>
        </p:txBody>
      </p:sp>
      <p:sp>
        <p:nvSpPr>
          <p:cNvPr id="9" name="TextBox 8"/>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Deployment Topology</a:t>
            </a:r>
          </a:p>
        </p:txBody>
      </p:sp>
      <p:sp>
        <p:nvSpPr>
          <p:cNvPr id="5" name="TextBox 4"/>
          <p:cNvSpPr txBox="1"/>
          <p:nvPr/>
        </p:nvSpPr>
        <p:spPr>
          <a:xfrm>
            <a:off x="713232" y="932688"/>
            <a:ext cx="10881360" cy="365760"/>
          </a:xfrm>
          <a:prstGeom prst="rect">
            <a:avLst/>
          </a:prstGeom>
          <a:noFill/>
        </p:spPr>
        <p:txBody>
          <a:bodyPr wrap="square" anchor="t">
            <a:spAutoFit/>
          </a:bodyPr>
          <a:lstStyle/>
          <a:p>
            <a:pPr algn="l"/>
            <a:r>
              <a:rPr sz="1300" b="0">
                <a:solidFill>
                  <a:srgbClr val="94A3B8"/>
                </a:solidFill>
                <a:latin typeface="Segoe UI"/>
              </a:rPr>
              <a:t>One codebase — three scales</a:t>
            </a:r>
          </a:p>
        </p:txBody>
      </p:sp>
      <p:sp>
        <p:nvSpPr>
          <p:cNvPr id="6" name="Rectangle 5"/>
          <p:cNvSpPr/>
          <p:nvPr/>
        </p:nvSpPr>
        <p:spPr>
          <a:xfrm>
            <a:off x="822960" y="1645920"/>
            <a:ext cx="10515600" cy="1143000"/>
          </a:xfrm>
          <a:prstGeom prst="rect">
            <a:avLst/>
          </a:prstGeom>
          <a:solidFill>
            <a:srgbClr val="111A2C"/>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22C55E"/>
                </a:solidFill>
                <a:latin typeface="Segoe UI"/>
              </a:rPr>
              <a:t>DEVELOPMENT</a:t>
            </a:r>
          </a:p>
          <a:p>
            <a:pPr algn="l"/>
            <a:r>
              <a:rPr sz="1300" b="0">
                <a:solidFill>
                  <a:srgbClr val="E2E8F0"/>
                </a:solidFill>
                <a:latin typeface="Segoe UI"/>
              </a:rPr>
              <a:t>Single workstation + optional GPU
SIMULATION_MODE · docker compose for infra</a:t>
            </a:r>
          </a:p>
        </p:txBody>
      </p:sp>
      <p:sp>
        <p:nvSpPr>
          <p:cNvPr id="7" name="Rectangle 6"/>
          <p:cNvSpPr/>
          <p:nvPr/>
        </p:nvSpPr>
        <p:spPr>
          <a:xfrm>
            <a:off x="822960" y="3063240"/>
            <a:ext cx="10515600" cy="1143000"/>
          </a:xfrm>
          <a:prstGeom prst="rect">
            <a:avLst/>
          </a:prstGeom>
          <a:solidFill>
            <a:srgbClr val="111A2C"/>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38BDF8"/>
                </a:solidFill>
                <a:latin typeface="Segoe UI"/>
              </a:rPr>
              <a:t>PILOT</a:t>
            </a:r>
          </a:p>
          <a:p>
            <a:pPr algn="l"/>
            <a:r>
              <a:rPr sz="1300" b="0">
                <a:solidFill>
                  <a:srgbClr val="E2E8F0"/>
                </a:solidFill>
                <a:latin typeface="Segoe UI"/>
              </a:rPr>
              <a:t>Several GPU servers: pipeline + embedding pools
central API/DB/Qdrant · docker compose</a:t>
            </a:r>
          </a:p>
        </p:txBody>
      </p:sp>
      <p:sp>
        <p:nvSpPr>
          <p:cNvPr id="8" name="Rectangle 7"/>
          <p:cNvSpPr/>
          <p:nvPr/>
        </p:nvSpPr>
        <p:spPr>
          <a:xfrm>
            <a:off x="822960" y="4480560"/>
            <a:ext cx="10515600" cy="1143000"/>
          </a:xfrm>
          <a:prstGeom prst="rect">
            <a:avLst/>
          </a:prstGeom>
          <a:solidFill>
            <a:srgbClr val="111A2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F59E0B"/>
                </a:solidFill>
                <a:latin typeface="Segoe UI"/>
              </a:rPr>
              <a:t>PRODUCTION</a:t>
            </a:r>
          </a:p>
          <a:p>
            <a:pPr algn="l"/>
            <a:r>
              <a:rPr sz="1300" b="0">
                <a:solidFill>
                  <a:srgbClr val="E2E8F0"/>
                </a:solidFill>
                <a:latin typeface="Segoe UI"/>
              </a:rPr>
              <a:t>Kubernetes: API pods · stream-gateway pods · GPU pods ·
Qdrant cluster (sharded by time) · PG HA · monitoring</a:t>
            </a:r>
          </a:p>
        </p:txBody>
      </p:sp>
      <p:sp>
        <p:nvSpPr>
          <p:cNvPr id="9" name="Rectangle 8"/>
          <p:cNvSpPr/>
          <p:nvPr/>
        </p:nvSpPr>
        <p:spPr>
          <a:xfrm>
            <a:off x="822960" y="5897880"/>
            <a:ext cx="10515600" cy="566928"/>
          </a:xfrm>
          <a:prstGeom prst="rect">
            <a:avLst/>
          </a:prstGeom>
          <a:solidFill>
            <a:srgbClr val="111A2C"/>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E2E8F0"/>
                </a:solidFill>
                <a:latin typeface="Segoe UI"/>
              </a:rPr>
              <a:t>EDGE COMPUTING: regional nodes process locally and ship only OBSERVATIONS (vectors + evidence) to the center — saving bandwidth and central GPU load</a:t>
            </a:r>
          </a:p>
        </p:txBody>
      </p:sp>
      <p:sp>
        <p:nvSpPr>
          <p:cNvPr id="10" name="TextBox 9"/>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5669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881360" cy="685800"/>
          </a:xfrm>
          <a:prstGeom prst="rect">
            <a:avLst/>
          </a:prstGeom>
          <a:noFill/>
        </p:spPr>
        <p:txBody>
          <a:bodyPr wrap="square" anchor="t">
            <a:spAutoFit/>
          </a:bodyPr>
          <a:lstStyle/>
          <a:p>
            <a:pPr algn="l"/>
            <a:r>
              <a:rPr sz="3000" b="1">
                <a:solidFill>
                  <a:srgbClr val="E2E8F0"/>
                </a:solidFill>
                <a:latin typeface="Segoe UI"/>
              </a:rPr>
              <a:t>Summary — Why This Design Works</a:t>
            </a:r>
          </a:p>
        </p:txBody>
      </p:sp>
      <p:sp>
        <p:nvSpPr>
          <p:cNvPr id="5" name="Rectangle 4"/>
          <p:cNvSpPr/>
          <p:nvPr/>
        </p:nvSpPr>
        <p:spPr>
          <a:xfrm>
            <a:off x="731520" y="1600200"/>
            <a:ext cx="64008" cy="5486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27632"/>
            <a:ext cx="10515600" cy="640080"/>
          </a:xfrm>
          <a:prstGeom prst="rect">
            <a:avLst/>
          </a:prstGeom>
          <a:noFill/>
        </p:spPr>
        <p:txBody>
          <a:bodyPr wrap="square" anchor="t">
            <a:spAutoFit/>
          </a:bodyPr>
          <a:lstStyle/>
          <a:p>
            <a:pPr algn="l"/>
            <a:r>
              <a:rPr sz="1600" b="1">
                <a:solidFill>
                  <a:srgbClr val="38BDF8"/>
                </a:solidFill>
                <a:latin typeface="Segoe UI"/>
              </a:rPr>
              <a:t>Scalable</a:t>
            </a:r>
          </a:p>
          <a:p>
            <a:pPr algn="l"/>
            <a:r>
              <a:rPr sz="1400" b="0">
                <a:solidFill>
                  <a:srgbClr val="E2E8F0"/>
                </a:solidFill>
                <a:latin typeface="Segoe UI"/>
              </a:rPr>
              <a:t>   —   cheap filters + tracking mean cost grows with PEOPLE SEEN, not frames captured</a:t>
            </a:r>
          </a:p>
        </p:txBody>
      </p:sp>
      <p:sp>
        <p:nvSpPr>
          <p:cNvPr id="7" name="Rectangle 6"/>
          <p:cNvSpPr/>
          <p:nvPr/>
        </p:nvSpPr>
        <p:spPr>
          <a:xfrm>
            <a:off x="731520" y="2350008"/>
            <a:ext cx="64008" cy="5486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77440"/>
            <a:ext cx="10515600" cy="640080"/>
          </a:xfrm>
          <a:prstGeom prst="rect">
            <a:avLst/>
          </a:prstGeom>
          <a:noFill/>
        </p:spPr>
        <p:txBody>
          <a:bodyPr wrap="square" anchor="t">
            <a:spAutoFit/>
          </a:bodyPr>
          <a:lstStyle/>
          <a:p>
            <a:pPr algn="l"/>
            <a:r>
              <a:rPr sz="1600" b="1">
                <a:solidFill>
                  <a:srgbClr val="38BDF8"/>
                </a:solidFill>
                <a:latin typeface="Segoe UI"/>
              </a:rPr>
              <a:t>Fast</a:t>
            </a:r>
          </a:p>
          <a:p>
            <a:pPr algn="l"/>
            <a:r>
              <a:rPr sz="1400" b="0">
                <a:solidFill>
                  <a:srgbClr val="E2E8F0"/>
                </a:solidFill>
                <a:latin typeface="Segoe UI"/>
              </a:rPr>
              <a:t>   —   sub-second capture→notification path, measured per stage with percentiles</a:t>
            </a:r>
          </a:p>
        </p:txBody>
      </p:sp>
      <p:sp>
        <p:nvSpPr>
          <p:cNvPr id="9" name="Rectangle 8"/>
          <p:cNvSpPr/>
          <p:nvPr/>
        </p:nvSpPr>
        <p:spPr>
          <a:xfrm>
            <a:off x="731520" y="3099816"/>
            <a:ext cx="64008" cy="5486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27248"/>
            <a:ext cx="10515600" cy="640080"/>
          </a:xfrm>
          <a:prstGeom prst="rect">
            <a:avLst/>
          </a:prstGeom>
          <a:noFill/>
        </p:spPr>
        <p:txBody>
          <a:bodyPr wrap="square" anchor="t">
            <a:spAutoFit/>
          </a:bodyPr>
          <a:lstStyle/>
          <a:p>
            <a:pPr algn="l"/>
            <a:r>
              <a:rPr sz="1600" b="1">
                <a:solidFill>
                  <a:srgbClr val="38BDF8"/>
                </a:solidFill>
                <a:latin typeface="Segoe UI"/>
              </a:rPr>
              <a:t>Accurate enough to be useful</a:t>
            </a:r>
          </a:p>
          <a:p>
            <a:pPr algn="l"/>
            <a:r>
              <a:rPr sz="1400" b="0">
                <a:solidFill>
                  <a:srgbClr val="E2E8F0"/>
                </a:solidFill>
                <a:latin typeface="Segoe UI"/>
              </a:rPr>
              <a:t>   —   multi-template references, multi-signal ranking, tiered thresholds</a:t>
            </a:r>
          </a:p>
        </p:txBody>
      </p:sp>
      <p:sp>
        <p:nvSpPr>
          <p:cNvPr id="11" name="Rectangle 10"/>
          <p:cNvSpPr/>
          <p:nvPr/>
        </p:nvSpPr>
        <p:spPr>
          <a:xfrm>
            <a:off x="731520" y="3849624"/>
            <a:ext cx="64008" cy="5486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877056"/>
            <a:ext cx="10515600" cy="640080"/>
          </a:xfrm>
          <a:prstGeom prst="rect">
            <a:avLst/>
          </a:prstGeom>
          <a:noFill/>
        </p:spPr>
        <p:txBody>
          <a:bodyPr wrap="square" anchor="t">
            <a:spAutoFit/>
          </a:bodyPr>
          <a:lstStyle/>
          <a:p>
            <a:pPr algn="l"/>
            <a:r>
              <a:rPr sz="1600" b="1">
                <a:solidFill>
                  <a:srgbClr val="38BDF8"/>
                </a:solidFill>
                <a:latin typeface="Segoe UI"/>
              </a:rPr>
              <a:t>Honest</a:t>
            </a:r>
          </a:p>
          <a:p>
            <a:pPr algn="l"/>
            <a:r>
              <a:rPr sz="1400" b="0">
                <a:solidFill>
                  <a:srgbClr val="E2E8F0"/>
                </a:solidFill>
                <a:latin typeface="Segoe UI"/>
              </a:rPr>
              <a:t>   —   aggregated, explained candidates — human makes every consequential decision</a:t>
            </a:r>
          </a:p>
        </p:txBody>
      </p:sp>
      <p:sp>
        <p:nvSpPr>
          <p:cNvPr id="13" name="Rectangle 12"/>
          <p:cNvSpPr/>
          <p:nvPr/>
        </p:nvSpPr>
        <p:spPr>
          <a:xfrm>
            <a:off x="731520" y="4599432"/>
            <a:ext cx="64008" cy="5486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26864"/>
            <a:ext cx="10515600" cy="640080"/>
          </a:xfrm>
          <a:prstGeom prst="rect">
            <a:avLst/>
          </a:prstGeom>
          <a:noFill/>
        </p:spPr>
        <p:txBody>
          <a:bodyPr wrap="square" anchor="t">
            <a:spAutoFit/>
          </a:bodyPr>
          <a:lstStyle/>
          <a:p>
            <a:pPr algn="l"/>
            <a:r>
              <a:rPr sz="1600" b="1">
                <a:solidFill>
                  <a:srgbClr val="38BDF8"/>
                </a:solidFill>
                <a:latin typeface="Segoe UI"/>
              </a:rPr>
              <a:t>Private &amp; accountable</a:t>
            </a:r>
          </a:p>
          <a:p>
            <a:pPr algn="l"/>
            <a:r>
              <a:rPr sz="1400" b="0">
                <a:solidFill>
                  <a:srgbClr val="E2E8F0"/>
                </a:solidFill>
                <a:latin typeface="Segoe UI"/>
              </a:rPr>
              <a:t>   —   minimal data, PII-separated vectors, retention automation, full audit trail</a:t>
            </a:r>
          </a:p>
        </p:txBody>
      </p:sp>
      <p:sp>
        <p:nvSpPr>
          <p:cNvPr id="15" name="Rectangle 14"/>
          <p:cNvSpPr/>
          <p:nvPr/>
        </p:nvSpPr>
        <p:spPr>
          <a:xfrm>
            <a:off x="731520" y="5349240"/>
            <a:ext cx="64008" cy="5486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376672"/>
            <a:ext cx="10515600" cy="640080"/>
          </a:xfrm>
          <a:prstGeom prst="rect">
            <a:avLst/>
          </a:prstGeom>
          <a:noFill/>
        </p:spPr>
        <p:txBody>
          <a:bodyPr wrap="square" anchor="t">
            <a:spAutoFit/>
          </a:bodyPr>
          <a:lstStyle/>
          <a:p>
            <a:pPr algn="l"/>
            <a:r>
              <a:rPr sz="1600" b="1">
                <a:solidFill>
                  <a:srgbClr val="38BDF8"/>
                </a:solidFill>
                <a:latin typeface="Segoe UI"/>
              </a:rPr>
              <a:t>Operationally ready</a:t>
            </a:r>
          </a:p>
          <a:p>
            <a:pPr algn="l"/>
            <a:r>
              <a:rPr sz="1400" b="0">
                <a:solidFill>
                  <a:srgbClr val="E2E8F0"/>
                </a:solidFill>
                <a:latin typeface="Segoe UI"/>
              </a:rPr>
              <a:t>   —   event-driven services, graceful degradation, simulation mode, load-tested</a:t>
            </a:r>
          </a:p>
        </p:txBody>
      </p:sp>
      <p:sp>
        <p:nvSpPr>
          <p:cNvPr id="17" name="TextBox 16"/>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1005840"/>
          </a:xfrm>
          <a:prstGeom prst="rect">
            <a:avLst/>
          </a:prstGeom>
          <a:noFill/>
        </p:spPr>
        <p:txBody>
          <a:bodyPr wrap="square" anchor="t">
            <a:spAutoFit/>
          </a:bodyPr>
          <a:lstStyle/>
          <a:p>
            <a:pPr algn="l"/>
            <a:r>
              <a:rPr sz="5400" b="1">
                <a:solidFill>
                  <a:srgbClr val="38BDF8"/>
                </a:solidFill>
                <a:latin typeface="Segoe UI"/>
              </a:rPr>
              <a:t>Thank You</a:t>
            </a:r>
          </a:p>
        </p:txBody>
      </p:sp>
      <p:sp>
        <p:nvSpPr>
          <p:cNvPr id="4" name="TextBox 3"/>
          <p:cNvSpPr txBox="1"/>
          <p:nvPr/>
        </p:nvSpPr>
        <p:spPr>
          <a:xfrm>
            <a:off x="868680" y="3291840"/>
            <a:ext cx="10058400" cy="1280160"/>
          </a:xfrm>
          <a:prstGeom prst="rect">
            <a:avLst/>
          </a:prstGeom>
          <a:noFill/>
        </p:spPr>
        <p:txBody>
          <a:bodyPr wrap="square" anchor="t">
            <a:spAutoFit/>
          </a:bodyPr>
          <a:lstStyle/>
          <a:p>
            <a:pPr algn="l"/>
            <a:r>
              <a:rPr sz="1600" b="0">
                <a:solidFill>
                  <a:srgbClr val="E2E8F0"/>
                </a:solidFill>
                <a:latin typeface="Segoe UI"/>
              </a:rPr>
              <a:t>Questions &amp; live demo walkthrough available.</a:t>
            </a:r>
          </a:p>
          <a:p>
            <a:pPr algn="l"/>
            <a:r>
              <a:rPr sz="1600" b="0">
                <a:solidFill>
                  <a:srgbClr val="E2E8F0"/>
                </a:solidFill>
                <a:latin typeface="Segoe UI"/>
              </a:rPr>
              <a:t>Demo environment runs entirely in SIMULATION_MODE —</a:t>
            </a:r>
          </a:p>
          <a:p>
            <a:pPr algn="l"/>
            <a:r>
              <a:rPr sz="1600" b="0">
                <a:solidFill>
                  <a:srgbClr val="E2E8F0"/>
                </a:solidFill>
                <a:latin typeface="Segoe UI"/>
              </a:rPr>
              <a:t>complete pipeline without any real person's biometric data.</a:t>
            </a:r>
          </a:p>
        </p:txBody>
      </p:sp>
      <p:sp>
        <p:nvSpPr>
          <p:cNvPr id="5" name="Rounded Rectangle 4"/>
          <p:cNvSpPr/>
          <p:nvPr/>
        </p:nvSpPr>
        <p:spPr>
          <a:xfrm>
            <a:off x="868680" y="4754880"/>
            <a:ext cx="8686800" cy="50292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220"/>
                </a:solidFill>
                <a:latin typeface="Segoe UI"/>
              </a:rPr>
              <a:t>Built for finding missing people — responsibly.</a:t>
            </a:r>
          </a:p>
        </p:txBody>
      </p:sp>
      <p:sp>
        <p:nvSpPr>
          <p:cNvPr id="6" name="TextBox 5"/>
          <p:cNvSpPr txBox="1"/>
          <p:nvPr/>
        </p:nvSpPr>
        <p:spPr>
          <a:xfrm>
            <a:off x="502920" y="6473952"/>
            <a:ext cx="10972800" cy="274320"/>
          </a:xfrm>
          <a:prstGeom prst="rect">
            <a:avLst/>
          </a:prstGeom>
          <a:noFill/>
        </p:spPr>
        <p:txBody>
          <a:bodyPr wrap="square" anchor="t">
            <a:spAutoFit/>
          </a:bodyPr>
          <a:lstStyle/>
          <a:p>
            <a:pPr algn="l"/>
            <a:r>
              <a:rPr sz="1000" b="0">
                <a:solidFill>
                  <a:srgbClr val="94A3B8"/>
                </a:solidFill>
                <a:latin typeface="Segoe UI"/>
              </a:rPr>
              <a:t>WARI — Missing-Person CCTV Search Platform   ·   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